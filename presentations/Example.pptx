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Source Sans 3" panose="020B0604020202020204" charset="0"/>
      <p:regular r:id="rId15"/>
      <p:bold r:id="rId16"/>
      <p:italic r:id="rId17"/>
      <p:boldItalic r:id="rId18"/>
    </p:embeddedFont>
    <p:embeddedFont>
      <p:font typeface="Libre Baskerville" panose="020B0604020202020204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1BBA3E-5B35-42AA-BB61-53A93222CCA1}">
  <a:tblStyle styleId="{F51BBA3E-5B35-42AA-BB61-53A93222CC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4e7ebc08fc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4e7ebc08fc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4e7ebc08fc_0_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4e7ebc08fc_0_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4e7ebc08fc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4e7ebc08fc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4e7ebc08fc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4e7ebc08fc_0_1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4fae7abc5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4fae7abc5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fae7abc5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fae7abc5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4fae7abc5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4fae7abc5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4fae7abc5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4fae7abc5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fae7abc5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fae7abc5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4fae7abc5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4fae7abc5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4fae7abc5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4fae7abc5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" name="Google Shape;24;p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8" name="Google Shape;38;p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13250" y="1728289"/>
            <a:ext cx="7717500" cy="26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1" name="Google Shape;51;p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67" name="Google Shape;67;p6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79" name="Google Shape;79;p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pic" idx="2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3" name="Google Shape;93;p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5" name="Google Shape;105;p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1" name="Google Shape;121;p1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6257" y="1616053"/>
            <a:ext cx="7516105" cy="1743786"/>
          </a:xfrm>
        </p:spPr>
        <p:txBody>
          <a:bodyPr/>
          <a:lstStyle/>
          <a:p>
            <a:pPr lvl="0"/>
            <a:r>
              <a:rPr lang="ru-RU" sz="3400" dirty="0">
                <a:solidFill>
                  <a:srgbClr val="35240A"/>
                </a:solidFill>
                <a:latin typeface="+mj-lt"/>
                <a:cs typeface="Arial" panose="020B0604020202020204" pitchFamily="34" charset="0"/>
              </a:rPr>
              <a:t>Со вкусом традиций: путешествие по татарской культуре от кочевников до </a:t>
            </a:r>
            <a:r>
              <a:rPr lang="ru-RU" sz="3400" dirty="0" smtClean="0">
                <a:solidFill>
                  <a:srgbClr val="35240A"/>
                </a:solidFill>
                <a:latin typeface="+mj-lt"/>
                <a:cs typeface="Arial" panose="020B0604020202020204" pitchFamily="34" charset="0"/>
              </a:rPr>
              <a:t>современности</a:t>
            </a:r>
            <a:endParaRPr lang="ru-RU" sz="3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291685" y="3541745"/>
            <a:ext cx="4189200" cy="1037511"/>
          </a:xfrm>
        </p:spPr>
        <p:txBody>
          <a:bodyPr/>
          <a:lstStyle/>
          <a:p>
            <a:pPr marL="0" lvl="0" indent="0"/>
            <a:r>
              <a:rPr lang="ru-RU" sz="1800" dirty="0" err="1">
                <a:solidFill>
                  <a:srgbClr val="35240A"/>
                </a:solidFill>
                <a:latin typeface="+mj-lt"/>
              </a:rPr>
              <a:t>Залилова</a:t>
            </a:r>
            <a:r>
              <a:rPr lang="ru-RU" sz="1800" dirty="0">
                <a:solidFill>
                  <a:srgbClr val="35240A"/>
                </a:solidFill>
                <a:latin typeface="+mj-lt"/>
              </a:rPr>
              <a:t> Диана </a:t>
            </a:r>
            <a:r>
              <a:rPr lang="ru-RU" sz="1800" dirty="0" err="1">
                <a:solidFill>
                  <a:srgbClr val="35240A"/>
                </a:solidFill>
                <a:latin typeface="+mj-lt"/>
              </a:rPr>
              <a:t>Ильнаровна</a:t>
            </a:r>
            <a:r>
              <a:rPr lang="ru-RU" sz="1800" dirty="0">
                <a:solidFill>
                  <a:srgbClr val="35240A"/>
                </a:solidFill>
                <a:latin typeface="+mj-lt"/>
              </a:rPr>
              <a:t> </a:t>
            </a:r>
          </a:p>
          <a:p>
            <a:pPr marL="0" lvl="0" indent="0"/>
            <a:r>
              <a:rPr lang="ru-RU" sz="1800" dirty="0">
                <a:solidFill>
                  <a:srgbClr val="35240A"/>
                </a:solidFill>
                <a:latin typeface="+mj-lt"/>
              </a:rPr>
              <a:t>ОП «Прикладная математика и информатика»</a:t>
            </a:r>
            <a:endParaRPr lang="ru-RU" sz="1800" dirty="0">
              <a:solidFill>
                <a:srgbClr val="35240A"/>
              </a:solidFill>
              <a:latin typeface="+mj-lt"/>
            </a:endParaRPr>
          </a:p>
        </p:txBody>
      </p:sp>
      <p:grpSp>
        <p:nvGrpSpPr>
          <p:cNvPr id="5" name="Google Shape;138;p13"/>
          <p:cNvGrpSpPr/>
          <p:nvPr/>
        </p:nvGrpSpPr>
        <p:grpSpPr>
          <a:xfrm>
            <a:off x="565632" y="519361"/>
            <a:ext cx="8012736" cy="4104778"/>
            <a:chOff x="949856" y="320488"/>
            <a:chExt cx="8012736" cy="4104778"/>
          </a:xfrm>
        </p:grpSpPr>
        <p:sp>
          <p:nvSpPr>
            <p:cNvPr id="6" name="Google Shape;139;p13"/>
            <p:cNvSpPr/>
            <p:nvPr/>
          </p:nvSpPr>
          <p:spPr>
            <a:xfrm>
              <a:off x="1266061" y="320488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" name="Google Shape;140;p13"/>
            <p:cNvSpPr/>
            <p:nvPr/>
          </p:nvSpPr>
          <p:spPr>
            <a:xfrm>
              <a:off x="1271880" y="528542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" name="Google Shape;141;p13"/>
            <p:cNvSpPr/>
            <p:nvPr/>
          </p:nvSpPr>
          <p:spPr>
            <a:xfrm>
              <a:off x="1339572" y="501715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" name="Google Shape;142;p13"/>
            <p:cNvSpPr/>
            <p:nvPr/>
          </p:nvSpPr>
          <p:spPr>
            <a:xfrm>
              <a:off x="1397117" y="590009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" name="Google Shape;143;p13"/>
            <p:cNvSpPr/>
            <p:nvPr/>
          </p:nvSpPr>
          <p:spPr>
            <a:xfrm>
              <a:off x="1157536" y="368324"/>
              <a:ext cx="257508" cy="129532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" name="Google Shape;144;p13"/>
            <p:cNvSpPr/>
            <p:nvPr/>
          </p:nvSpPr>
          <p:spPr>
            <a:xfrm>
              <a:off x="1481522" y="374548"/>
              <a:ext cx="110485" cy="99592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" name="Google Shape;145;p13"/>
            <p:cNvSpPr/>
            <p:nvPr/>
          </p:nvSpPr>
          <p:spPr>
            <a:xfrm>
              <a:off x="1619581" y="407196"/>
              <a:ext cx="41642" cy="5449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" name="Google Shape;146;p13"/>
            <p:cNvSpPr/>
            <p:nvPr/>
          </p:nvSpPr>
          <p:spPr>
            <a:xfrm>
              <a:off x="1133416" y="43209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" name="Google Shape;147;p13"/>
            <p:cNvSpPr/>
            <p:nvPr/>
          </p:nvSpPr>
          <p:spPr>
            <a:xfrm>
              <a:off x="1228340" y="410713"/>
              <a:ext cx="96853" cy="140829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" name="Google Shape;148;p13"/>
            <p:cNvSpPr/>
            <p:nvPr/>
          </p:nvSpPr>
          <p:spPr>
            <a:xfrm>
              <a:off x="1207706" y="536728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" name="Google Shape;149;p13"/>
            <p:cNvSpPr/>
            <p:nvPr/>
          </p:nvSpPr>
          <p:spPr>
            <a:xfrm>
              <a:off x="1268395" y="558109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" name="Google Shape;150;p13"/>
            <p:cNvSpPr/>
            <p:nvPr/>
          </p:nvSpPr>
          <p:spPr>
            <a:xfrm>
              <a:off x="1432908" y="521166"/>
              <a:ext cx="12076" cy="859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" name="Google Shape;151;p13"/>
            <p:cNvSpPr/>
            <p:nvPr/>
          </p:nvSpPr>
          <p:spPr>
            <a:xfrm>
              <a:off x="1256724" y="359765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" name="Google Shape;152;p13"/>
            <p:cNvSpPr/>
            <p:nvPr/>
          </p:nvSpPr>
          <p:spPr>
            <a:xfrm>
              <a:off x="1230270" y="359360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" name="Google Shape;153;p13"/>
            <p:cNvSpPr/>
            <p:nvPr/>
          </p:nvSpPr>
          <p:spPr>
            <a:xfrm>
              <a:off x="1175027" y="430942"/>
              <a:ext cx="91064" cy="28041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" name="Google Shape;154;p13"/>
            <p:cNvSpPr/>
            <p:nvPr/>
          </p:nvSpPr>
          <p:spPr>
            <a:xfrm>
              <a:off x="1176210" y="437945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" name="Google Shape;155;p13"/>
            <p:cNvSpPr/>
            <p:nvPr/>
          </p:nvSpPr>
          <p:spPr>
            <a:xfrm>
              <a:off x="1365621" y="378439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" name="Google Shape;156;p13"/>
            <p:cNvSpPr/>
            <p:nvPr/>
          </p:nvSpPr>
          <p:spPr>
            <a:xfrm>
              <a:off x="1359397" y="380773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" name="Google Shape;157;p13"/>
            <p:cNvSpPr/>
            <p:nvPr/>
          </p:nvSpPr>
          <p:spPr>
            <a:xfrm>
              <a:off x="1698539" y="454658"/>
              <a:ext cx="103482" cy="33488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" name="Google Shape;158;p13"/>
            <p:cNvSpPr/>
            <p:nvPr/>
          </p:nvSpPr>
          <p:spPr>
            <a:xfrm>
              <a:off x="1698943" y="460477"/>
              <a:ext cx="125237" cy="38561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" name="Google Shape;159;p13"/>
            <p:cNvSpPr/>
            <p:nvPr/>
          </p:nvSpPr>
          <p:spPr>
            <a:xfrm>
              <a:off x="949856" y="642108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" name="Google Shape;160;p13"/>
            <p:cNvSpPr/>
            <p:nvPr/>
          </p:nvSpPr>
          <p:spPr>
            <a:xfrm>
              <a:off x="1170763" y="648333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" name="Google Shape;161;p13"/>
            <p:cNvSpPr/>
            <p:nvPr/>
          </p:nvSpPr>
          <p:spPr>
            <a:xfrm>
              <a:off x="1143936" y="716024"/>
              <a:ext cx="96075" cy="91033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" name="Google Shape;162;p13"/>
            <p:cNvSpPr/>
            <p:nvPr/>
          </p:nvSpPr>
          <p:spPr>
            <a:xfrm>
              <a:off x="1232199" y="773570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" name="Google Shape;163;p13"/>
            <p:cNvSpPr/>
            <p:nvPr/>
          </p:nvSpPr>
          <p:spPr>
            <a:xfrm>
              <a:off x="1010140" y="533989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" name="Google Shape;164;p13"/>
            <p:cNvSpPr/>
            <p:nvPr/>
          </p:nvSpPr>
          <p:spPr>
            <a:xfrm>
              <a:off x="1016365" y="857974"/>
              <a:ext cx="101522" cy="110111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" name="Google Shape;165;p13"/>
            <p:cNvSpPr/>
            <p:nvPr/>
          </p:nvSpPr>
          <p:spPr>
            <a:xfrm>
              <a:off x="1049043" y="996438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3" name="Google Shape;166;p13"/>
            <p:cNvSpPr/>
            <p:nvPr/>
          </p:nvSpPr>
          <p:spPr>
            <a:xfrm>
              <a:off x="1073910" y="509900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4" name="Google Shape;167;p13"/>
            <p:cNvSpPr/>
            <p:nvPr/>
          </p:nvSpPr>
          <p:spPr>
            <a:xfrm>
              <a:off x="1052903" y="604388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5" name="Google Shape;168;p13"/>
            <p:cNvSpPr/>
            <p:nvPr/>
          </p:nvSpPr>
          <p:spPr>
            <a:xfrm>
              <a:off x="1178918" y="583785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6" name="Google Shape;169;p13"/>
            <p:cNvSpPr/>
            <p:nvPr/>
          </p:nvSpPr>
          <p:spPr>
            <a:xfrm>
              <a:off x="1199925" y="644443"/>
              <a:ext cx="12480" cy="7438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7" name="Google Shape;170;p13"/>
            <p:cNvSpPr/>
            <p:nvPr/>
          </p:nvSpPr>
          <p:spPr>
            <a:xfrm>
              <a:off x="1162983" y="808987"/>
              <a:ext cx="8963" cy="12449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8" name="Google Shape;171;p13"/>
            <p:cNvSpPr/>
            <p:nvPr/>
          </p:nvSpPr>
          <p:spPr>
            <a:xfrm>
              <a:off x="1001582" y="633176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9" name="Google Shape;172;p13"/>
            <p:cNvSpPr/>
            <p:nvPr/>
          </p:nvSpPr>
          <p:spPr>
            <a:xfrm>
              <a:off x="1001582" y="606722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0" name="Google Shape;173;p13"/>
            <p:cNvSpPr/>
            <p:nvPr/>
          </p:nvSpPr>
          <p:spPr>
            <a:xfrm>
              <a:off x="1073132" y="551511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1" name="Google Shape;174;p13"/>
            <p:cNvSpPr/>
            <p:nvPr/>
          </p:nvSpPr>
          <p:spPr>
            <a:xfrm>
              <a:off x="1080135" y="552662"/>
              <a:ext cx="29597" cy="87921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2" name="Google Shape;175;p13"/>
            <p:cNvSpPr/>
            <p:nvPr/>
          </p:nvSpPr>
          <p:spPr>
            <a:xfrm>
              <a:off x="1020255" y="742074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3" name="Google Shape;176;p13"/>
            <p:cNvSpPr/>
            <p:nvPr/>
          </p:nvSpPr>
          <p:spPr>
            <a:xfrm>
              <a:off x="1020628" y="729625"/>
              <a:ext cx="69652" cy="26081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4" name="Google Shape;177;p13"/>
            <p:cNvSpPr/>
            <p:nvPr/>
          </p:nvSpPr>
          <p:spPr>
            <a:xfrm>
              <a:off x="1096879" y="1074991"/>
              <a:ext cx="33457" cy="103109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5" name="Google Shape;178;p13"/>
            <p:cNvSpPr/>
            <p:nvPr/>
          </p:nvSpPr>
          <p:spPr>
            <a:xfrm>
              <a:off x="1102699" y="1074991"/>
              <a:ext cx="38530" cy="125673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6" name="Google Shape;179;p13"/>
            <p:cNvSpPr/>
            <p:nvPr/>
          </p:nvSpPr>
          <p:spPr>
            <a:xfrm>
              <a:off x="1325162" y="686084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7" name="Google Shape;180;p13"/>
            <p:cNvSpPr/>
            <p:nvPr/>
          </p:nvSpPr>
          <p:spPr>
            <a:xfrm>
              <a:off x="1333347" y="686084"/>
              <a:ext cx="73138" cy="18673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8" name="Google Shape;181;p13"/>
            <p:cNvSpPr/>
            <p:nvPr/>
          </p:nvSpPr>
          <p:spPr>
            <a:xfrm>
              <a:off x="1374958" y="692309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49" name="Google Shape;182;p13"/>
            <p:cNvSpPr/>
            <p:nvPr/>
          </p:nvSpPr>
          <p:spPr>
            <a:xfrm>
              <a:off x="1324789" y="692309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0" name="Google Shape;183;p13"/>
            <p:cNvSpPr/>
            <p:nvPr/>
          </p:nvSpPr>
          <p:spPr>
            <a:xfrm>
              <a:off x="1337611" y="719510"/>
              <a:ext cx="21412" cy="43198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1" name="Google Shape;184;p13"/>
            <p:cNvSpPr/>
            <p:nvPr/>
          </p:nvSpPr>
          <p:spPr>
            <a:xfrm>
              <a:off x="1351212" y="717580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2" name="Google Shape;185;p13"/>
            <p:cNvSpPr/>
            <p:nvPr/>
          </p:nvSpPr>
          <p:spPr>
            <a:xfrm>
              <a:off x="1360548" y="707061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3" name="Google Shape;186;p13"/>
            <p:cNvSpPr/>
            <p:nvPr/>
          </p:nvSpPr>
          <p:spPr>
            <a:xfrm>
              <a:off x="1362883" y="707466"/>
              <a:ext cx="21443" cy="859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4" name="Google Shape;187;p13"/>
            <p:cNvSpPr/>
            <p:nvPr/>
          </p:nvSpPr>
          <p:spPr>
            <a:xfrm>
              <a:off x="1373776" y="726917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5" name="Google Shape;188;p13"/>
            <p:cNvSpPr/>
            <p:nvPr/>
          </p:nvSpPr>
          <p:spPr>
            <a:xfrm>
              <a:off x="7951360" y="320488"/>
              <a:ext cx="686096" cy="236873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6" name="Google Shape;189;p13"/>
            <p:cNvSpPr/>
            <p:nvPr/>
          </p:nvSpPr>
          <p:spPr>
            <a:xfrm>
              <a:off x="8406402" y="528542"/>
              <a:ext cx="225234" cy="151349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7" name="Google Shape;190;p13"/>
            <p:cNvSpPr/>
            <p:nvPr/>
          </p:nvSpPr>
          <p:spPr>
            <a:xfrm>
              <a:off x="8472507" y="501715"/>
              <a:ext cx="91438" cy="96106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8" name="Google Shape;191;p13"/>
            <p:cNvSpPr/>
            <p:nvPr/>
          </p:nvSpPr>
          <p:spPr>
            <a:xfrm>
              <a:off x="8506368" y="590009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59" name="Google Shape;192;p13"/>
            <p:cNvSpPr/>
            <p:nvPr/>
          </p:nvSpPr>
          <p:spPr>
            <a:xfrm>
              <a:off x="8488846" y="368324"/>
              <a:ext cx="257134" cy="129532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0" name="Google Shape;193;p13"/>
            <p:cNvSpPr/>
            <p:nvPr/>
          </p:nvSpPr>
          <p:spPr>
            <a:xfrm>
              <a:off x="8311883" y="374548"/>
              <a:ext cx="110111" cy="99592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1" name="Google Shape;194;p13"/>
            <p:cNvSpPr/>
            <p:nvPr/>
          </p:nvSpPr>
          <p:spPr>
            <a:xfrm>
              <a:off x="8242667" y="407196"/>
              <a:ext cx="41237" cy="5449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2" name="Google Shape;195;p13"/>
            <p:cNvSpPr/>
            <p:nvPr/>
          </p:nvSpPr>
          <p:spPr>
            <a:xfrm>
              <a:off x="8730388" y="432094"/>
              <a:ext cx="39681" cy="39712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3" name="Google Shape;196;p13"/>
            <p:cNvSpPr/>
            <p:nvPr/>
          </p:nvSpPr>
          <p:spPr>
            <a:xfrm>
              <a:off x="8578697" y="410713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4" name="Google Shape;197;p13"/>
            <p:cNvSpPr/>
            <p:nvPr/>
          </p:nvSpPr>
          <p:spPr>
            <a:xfrm>
              <a:off x="8657654" y="536728"/>
              <a:ext cx="38156" cy="40490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5" name="Google Shape;198;p13"/>
            <p:cNvSpPr/>
            <p:nvPr/>
          </p:nvSpPr>
          <p:spPr>
            <a:xfrm>
              <a:off x="8628088" y="558109"/>
              <a:ext cx="7034" cy="12107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6" name="Google Shape;199;p13"/>
            <p:cNvSpPr/>
            <p:nvPr/>
          </p:nvSpPr>
          <p:spPr>
            <a:xfrm>
              <a:off x="8458533" y="521166"/>
              <a:ext cx="12449" cy="859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7" name="Google Shape;200;p13"/>
            <p:cNvSpPr/>
            <p:nvPr/>
          </p:nvSpPr>
          <p:spPr>
            <a:xfrm>
              <a:off x="8451530" y="359765"/>
              <a:ext cx="195263" cy="34266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8" name="Google Shape;201;p13"/>
            <p:cNvSpPr/>
            <p:nvPr/>
          </p:nvSpPr>
          <p:spPr>
            <a:xfrm>
              <a:off x="8631978" y="359360"/>
              <a:ext cx="41268" cy="38561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69" name="Google Shape;202;p13"/>
            <p:cNvSpPr/>
            <p:nvPr/>
          </p:nvSpPr>
          <p:spPr>
            <a:xfrm>
              <a:off x="8637829" y="430942"/>
              <a:ext cx="90629" cy="28041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0" name="Google Shape;203;p13"/>
            <p:cNvSpPr/>
            <p:nvPr/>
          </p:nvSpPr>
          <p:spPr>
            <a:xfrm>
              <a:off x="8639759" y="437945"/>
              <a:ext cx="87548" cy="29193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1" name="Google Shape;204;p13"/>
            <p:cNvSpPr/>
            <p:nvPr/>
          </p:nvSpPr>
          <p:spPr>
            <a:xfrm>
              <a:off x="8515300" y="378439"/>
              <a:ext cx="22595" cy="70804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2" name="Google Shape;205;p13"/>
            <p:cNvSpPr/>
            <p:nvPr/>
          </p:nvSpPr>
          <p:spPr>
            <a:xfrm>
              <a:off x="8524232" y="380773"/>
              <a:ext cx="19887" cy="67691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3" name="Google Shape;206;p13"/>
            <p:cNvSpPr/>
            <p:nvPr/>
          </p:nvSpPr>
          <p:spPr>
            <a:xfrm>
              <a:off x="8101495" y="454658"/>
              <a:ext cx="103078" cy="33488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4" name="Google Shape;207;p13"/>
            <p:cNvSpPr/>
            <p:nvPr/>
          </p:nvSpPr>
          <p:spPr>
            <a:xfrm>
              <a:off x="8079305" y="460477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5" name="Google Shape;208;p13"/>
            <p:cNvSpPr/>
            <p:nvPr/>
          </p:nvSpPr>
          <p:spPr>
            <a:xfrm>
              <a:off x="8704712" y="642108"/>
              <a:ext cx="248949" cy="686127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6" name="Google Shape;209;p13"/>
            <p:cNvSpPr/>
            <p:nvPr/>
          </p:nvSpPr>
          <p:spPr>
            <a:xfrm>
              <a:off x="8581435" y="648333"/>
              <a:ext cx="151318" cy="225234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7" name="Google Shape;210;p13"/>
            <p:cNvSpPr/>
            <p:nvPr/>
          </p:nvSpPr>
          <p:spPr>
            <a:xfrm>
              <a:off x="8663474" y="716024"/>
              <a:ext cx="96106" cy="91033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8" name="Google Shape;211;p13"/>
            <p:cNvSpPr/>
            <p:nvPr/>
          </p:nvSpPr>
          <p:spPr>
            <a:xfrm>
              <a:off x="8671255" y="773570"/>
              <a:ext cx="31" cy="436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79" name="Google Shape;212;p13"/>
            <p:cNvSpPr/>
            <p:nvPr/>
          </p:nvSpPr>
          <p:spPr>
            <a:xfrm>
              <a:off x="8763813" y="533989"/>
              <a:ext cx="129563" cy="257134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0" name="Google Shape;213;p13"/>
            <p:cNvSpPr/>
            <p:nvPr/>
          </p:nvSpPr>
          <p:spPr>
            <a:xfrm>
              <a:off x="8785599" y="857974"/>
              <a:ext cx="101553" cy="110111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1" name="Google Shape;214;p13"/>
            <p:cNvSpPr/>
            <p:nvPr/>
          </p:nvSpPr>
          <p:spPr>
            <a:xfrm>
              <a:off x="8799604" y="996438"/>
              <a:ext cx="54869" cy="41268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2" name="Google Shape;215;p13"/>
            <p:cNvSpPr/>
            <p:nvPr/>
          </p:nvSpPr>
          <p:spPr>
            <a:xfrm>
              <a:off x="8789489" y="509900"/>
              <a:ext cx="40086" cy="39681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3" name="Google Shape;216;p13"/>
            <p:cNvSpPr/>
            <p:nvPr/>
          </p:nvSpPr>
          <p:spPr>
            <a:xfrm>
              <a:off x="8710158" y="604388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4" name="Google Shape;217;p13"/>
            <p:cNvSpPr/>
            <p:nvPr/>
          </p:nvSpPr>
          <p:spPr>
            <a:xfrm>
              <a:off x="8684108" y="583785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5" name="Google Shape;218;p13"/>
            <p:cNvSpPr/>
            <p:nvPr/>
          </p:nvSpPr>
          <p:spPr>
            <a:xfrm>
              <a:off x="8691111" y="644443"/>
              <a:ext cx="12449" cy="7438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6" name="Google Shape;219;p13"/>
            <p:cNvSpPr/>
            <p:nvPr/>
          </p:nvSpPr>
          <p:spPr>
            <a:xfrm>
              <a:off x="8731539" y="808987"/>
              <a:ext cx="8994" cy="12449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7" name="Google Shape;220;p13"/>
            <p:cNvSpPr/>
            <p:nvPr/>
          </p:nvSpPr>
          <p:spPr>
            <a:xfrm>
              <a:off x="8867295" y="633176"/>
              <a:ext cx="34639" cy="195263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8" name="Google Shape;221;p13"/>
            <p:cNvSpPr/>
            <p:nvPr/>
          </p:nvSpPr>
          <p:spPr>
            <a:xfrm>
              <a:off x="8863405" y="606722"/>
              <a:ext cx="38530" cy="41268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89" name="Google Shape;222;p13"/>
            <p:cNvSpPr/>
            <p:nvPr/>
          </p:nvSpPr>
          <p:spPr>
            <a:xfrm>
              <a:off x="8802343" y="551511"/>
              <a:ext cx="28010" cy="90629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0" name="Google Shape;223;p13"/>
            <p:cNvSpPr/>
            <p:nvPr/>
          </p:nvSpPr>
          <p:spPr>
            <a:xfrm>
              <a:off x="8793784" y="552662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1" name="Google Shape;224;p13"/>
            <p:cNvSpPr/>
            <p:nvPr/>
          </p:nvSpPr>
          <p:spPr>
            <a:xfrm>
              <a:off x="8812458" y="742074"/>
              <a:ext cx="70804" cy="22595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2" name="Google Shape;225;p13"/>
            <p:cNvSpPr/>
            <p:nvPr/>
          </p:nvSpPr>
          <p:spPr>
            <a:xfrm>
              <a:off x="8812831" y="729251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3" name="Google Shape;226;p13"/>
            <p:cNvSpPr/>
            <p:nvPr/>
          </p:nvSpPr>
          <p:spPr>
            <a:xfrm>
              <a:off x="8773150" y="1074991"/>
              <a:ext cx="33488" cy="103109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4" name="Google Shape;227;p13"/>
            <p:cNvSpPr/>
            <p:nvPr/>
          </p:nvSpPr>
          <p:spPr>
            <a:xfrm>
              <a:off x="8762257" y="1074991"/>
              <a:ext cx="38561" cy="125673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5" name="Google Shape;228;p13"/>
            <p:cNvSpPr/>
            <p:nvPr/>
          </p:nvSpPr>
          <p:spPr>
            <a:xfrm>
              <a:off x="8567804" y="686084"/>
              <a:ext cx="10551" cy="1011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6" name="Google Shape;229;p13"/>
            <p:cNvSpPr/>
            <p:nvPr/>
          </p:nvSpPr>
          <p:spPr>
            <a:xfrm>
              <a:off x="8497031" y="686084"/>
              <a:ext cx="73542" cy="18673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7" name="Google Shape;230;p13"/>
            <p:cNvSpPr/>
            <p:nvPr/>
          </p:nvSpPr>
          <p:spPr>
            <a:xfrm>
              <a:off x="8497031" y="692309"/>
              <a:ext cx="31527" cy="21412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8" name="Google Shape;231;p13"/>
            <p:cNvSpPr/>
            <p:nvPr/>
          </p:nvSpPr>
          <p:spPr>
            <a:xfrm>
              <a:off x="8545644" y="692309"/>
              <a:ext cx="33083" cy="68843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99" name="Google Shape;232;p13"/>
            <p:cNvSpPr/>
            <p:nvPr/>
          </p:nvSpPr>
          <p:spPr>
            <a:xfrm>
              <a:off x="8544462" y="719510"/>
              <a:ext cx="21443" cy="43198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0" name="Google Shape;233;p13"/>
            <p:cNvSpPr/>
            <p:nvPr/>
          </p:nvSpPr>
          <p:spPr>
            <a:xfrm>
              <a:off x="8524232" y="717580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1" name="Google Shape;234;p13"/>
            <p:cNvSpPr/>
            <p:nvPr/>
          </p:nvSpPr>
          <p:spPr>
            <a:xfrm>
              <a:off x="8523081" y="707061"/>
              <a:ext cx="19483" cy="23778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2" name="Google Shape;235;p13"/>
            <p:cNvSpPr/>
            <p:nvPr/>
          </p:nvSpPr>
          <p:spPr>
            <a:xfrm>
              <a:off x="8519190" y="707466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3" name="Google Shape;236;p13"/>
            <p:cNvSpPr/>
            <p:nvPr/>
          </p:nvSpPr>
          <p:spPr>
            <a:xfrm>
              <a:off x="8494292" y="726917"/>
              <a:ext cx="35822" cy="29193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4" name="Google Shape;237;p13"/>
            <p:cNvSpPr/>
            <p:nvPr/>
          </p:nvSpPr>
          <p:spPr>
            <a:xfrm>
              <a:off x="7960697" y="4187988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5" name="Google Shape;238;p13"/>
            <p:cNvSpPr/>
            <p:nvPr/>
          </p:nvSpPr>
          <p:spPr>
            <a:xfrm>
              <a:off x="8415334" y="4065490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6" name="Google Shape;239;p13"/>
            <p:cNvSpPr/>
            <p:nvPr/>
          </p:nvSpPr>
          <p:spPr>
            <a:xfrm>
              <a:off x="8482248" y="4147529"/>
              <a:ext cx="90660" cy="96106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7" name="Google Shape;240;p13"/>
            <p:cNvSpPr/>
            <p:nvPr/>
          </p:nvSpPr>
          <p:spPr>
            <a:xfrm>
              <a:off x="8515300" y="4154936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8" name="Google Shape;241;p13"/>
            <p:cNvSpPr/>
            <p:nvPr/>
          </p:nvSpPr>
          <p:spPr>
            <a:xfrm>
              <a:off x="8498183" y="4247868"/>
              <a:ext cx="257134" cy="129158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09" name="Google Shape;242;p13"/>
            <p:cNvSpPr/>
            <p:nvPr/>
          </p:nvSpPr>
          <p:spPr>
            <a:xfrm>
              <a:off x="8320847" y="4271210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0" name="Google Shape;243;p13"/>
            <p:cNvSpPr/>
            <p:nvPr/>
          </p:nvSpPr>
          <p:spPr>
            <a:xfrm>
              <a:off x="8251599" y="4284063"/>
              <a:ext cx="41268" cy="54091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1" name="Google Shape;244;p13"/>
            <p:cNvSpPr/>
            <p:nvPr/>
          </p:nvSpPr>
          <p:spPr>
            <a:xfrm>
              <a:off x="8739320" y="42735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2" name="Google Shape;245;p13"/>
            <p:cNvSpPr/>
            <p:nvPr/>
          </p:nvSpPr>
          <p:spPr>
            <a:xfrm>
              <a:off x="8587629" y="419380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3" name="Google Shape;246;p13"/>
            <p:cNvSpPr/>
            <p:nvPr/>
          </p:nvSpPr>
          <p:spPr>
            <a:xfrm>
              <a:off x="8666586" y="4168163"/>
              <a:ext cx="38156" cy="40459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4" name="Google Shape;247;p13"/>
            <p:cNvSpPr/>
            <p:nvPr/>
          </p:nvSpPr>
          <p:spPr>
            <a:xfrm>
              <a:off x="8637425" y="4175166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5" name="Google Shape;248;p13"/>
            <p:cNvSpPr/>
            <p:nvPr/>
          </p:nvSpPr>
          <p:spPr>
            <a:xfrm>
              <a:off x="8467465" y="4215594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6" name="Google Shape;249;p13"/>
            <p:cNvSpPr/>
            <p:nvPr/>
          </p:nvSpPr>
          <p:spPr>
            <a:xfrm>
              <a:off x="8460462" y="4351350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7" name="Google Shape;250;p13"/>
            <p:cNvSpPr/>
            <p:nvPr/>
          </p:nvSpPr>
          <p:spPr>
            <a:xfrm>
              <a:off x="8641315" y="4347460"/>
              <a:ext cx="40864" cy="38903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8" name="Google Shape;251;p13"/>
            <p:cNvSpPr/>
            <p:nvPr/>
          </p:nvSpPr>
          <p:spPr>
            <a:xfrm>
              <a:off x="8646761" y="4286398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19" name="Google Shape;252;p13"/>
            <p:cNvSpPr/>
            <p:nvPr/>
          </p:nvSpPr>
          <p:spPr>
            <a:xfrm>
              <a:off x="8648318" y="4278212"/>
              <a:ext cx="87921" cy="29193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0" name="Google Shape;253;p13"/>
            <p:cNvSpPr/>
            <p:nvPr/>
          </p:nvSpPr>
          <p:spPr>
            <a:xfrm>
              <a:off x="8524232" y="4296886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1" name="Google Shape;254;p13"/>
            <p:cNvSpPr/>
            <p:nvPr/>
          </p:nvSpPr>
          <p:spPr>
            <a:xfrm>
              <a:off x="8533195" y="4296886"/>
              <a:ext cx="20261" cy="67691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2" name="Google Shape;255;p13"/>
            <p:cNvSpPr/>
            <p:nvPr/>
          </p:nvSpPr>
          <p:spPr>
            <a:xfrm>
              <a:off x="8110801" y="4257205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3" name="Google Shape;256;p13"/>
            <p:cNvSpPr/>
            <p:nvPr/>
          </p:nvSpPr>
          <p:spPr>
            <a:xfrm>
              <a:off x="8088268" y="424631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4" name="Google Shape;257;p13"/>
            <p:cNvSpPr/>
            <p:nvPr/>
          </p:nvSpPr>
          <p:spPr>
            <a:xfrm>
              <a:off x="8714048" y="3417115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5" name="Google Shape;258;p13"/>
            <p:cNvSpPr/>
            <p:nvPr/>
          </p:nvSpPr>
          <p:spPr>
            <a:xfrm>
              <a:off x="8590741" y="3871784"/>
              <a:ext cx="150944" cy="225234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6" name="Google Shape;259;p13"/>
            <p:cNvSpPr/>
            <p:nvPr/>
          </p:nvSpPr>
          <p:spPr>
            <a:xfrm>
              <a:off x="8672811" y="3937919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7" name="Google Shape;260;p13"/>
            <p:cNvSpPr/>
            <p:nvPr/>
          </p:nvSpPr>
          <p:spPr>
            <a:xfrm>
              <a:off x="8680218" y="3971344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8" name="Google Shape;261;p13"/>
            <p:cNvSpPr/>
            <p:nvPr/>
          </p:nvSpPr>
          <p:spPr>
            <a:xfrm>
              <a:off x="8772776" y="3954227"/>
              <a:ext cx="129532" cy="257134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29" name="Google Shape;262;p13"/>
            <p:cNvSpPr/>
            <p:nvPr/>
          </p:nvSpPr>
          <p:spPr>
            <a:xfrm>
              <a:off x="8794562" y="3776891"/>
              <a:ext cx="101926" cy="110485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0" name="Google Shape;263;p13"/>
            <p:cNvSpPr/>
            <p:nvPr/>
          </p:nvSpPr>
          <p:spPr>
            <a:xfrm>
              <a:off x="8808941" y="3707675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1" name="Google Shape;264;p13"/>
            <p:cNvSpPr/>
            <p:nvPr/>
          </p:nvSpPr>
          <p:spPr>
            <a:xfrm>
              <a:off x="8798826" y="4195769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2" name="Google Shape;265;p13"/>
            <p:cNvSpPr/>
            <p:nvPr/>
          </p:nvSpPr>
          <p:spPr>
            <a:xfrm>
              <a:off x="8719090" y="4044482"/>
              <a:ext cx="140456" cy="9648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3" name="Google Shape;266;p13"/>
            <p:cNvSpPr/>
            <p:nvPr/>
          </p:nvSpPr>
          <p:spPr>
            <a:xfrm>
              <a:off x="8693445" y="4123036"/>
              <a:ext cx="40459" cy="3853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4" name="Google Shape;267;p13"/>
            <p:cNvSpPr/>
            <p:nvPr/>
          </p:nvSpPr>
          <p:spPr>
            <a:xfrm>
              <a:off x="8700448" y="4093469"/>
              <a:ext cx="12076" cy="7438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5" name="Google Shape;268;p13"/>
            <p:cNvSpPr/>
            <p:nvPr/>
          </p:nvSpPr>
          <p:spPr>
            <a:xfrm>
              <a:off x="8740876" y="3923914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6" name="Google Shape;269;p13"/>
            <p:cNvSpPr/>
            <p:nvPr/>
          </p:nvSpPr>
          <p:spPr>
            <a:xfrm>
              <a:off x="8876632" y="3916911"/>
              <a:ext cx="34235" cy="195263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7" name="Google Shape;270;p13"/>
            <p:cNvSpPr/>
            <p:nvPr/>
          </p:nvSpPr>
          <p:spPr>
            <a:xfrm>
              <a:off x="8872337" y="4097359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8" name="Google Shape;271;p13"/>
            <p:cNvSpPr/>
            <p:nvPr/>
          </p:nvSpPr>
          <p:spPr>
            <a:xfrm>
              <a:off x="8811275" y="4103210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39" name="Google Shape;272;p13"/>
            <p:cNvSpPr/>
            <p:nvPr/>
          </p:nvSpPr>
          <p:spPr>
            <a:xfrm>
              <a:off x="8803121" y="4105140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0" name="Google Shape;273;p13"/>
            <p:cNvSpPr/>
            <p:nvPr/>
          </p:nvSpPr>
          <p:spPr>
            <a:xfrm>
              <a:off x="8821763" y="3980681"/>
              <a:ext cx="70430" cy="22221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1" name="Google Shape;274;p13"/>
            <p:cNvSpPr/>
            <p:nvPr/>
          </p:nvSpPr>
          <p:spPr>
            <a:xfrm>
              <a:off x="8822168" y="3989644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2" name="Google Shape;275;p13"/>
            <p:cNvSpPr/>
            <p:nvPr/>
          </p:nvSpPr>
          <p:spPr>
            <a:xfrm>
              <a:off x="8782487" y="3567250"/>
              <a:ext cx="33114" cy="103109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3" name="Google Shape;276;p13"/>
            <p:cNvSpPr/>
            <p:nvPr/>
          </p:nvSpPr>
          <p:spPr>
            <a:xfrm>
              <a:off x="8771594" y="3545091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4" name="Google Shape;277;p13"/>
            <p:cNvSpPr/>
            <p:nvPr/>
          </p:nvSpPr>
          <p:spPr>
            <a:xfrm>
              <a:off x="8576767" y="4049151"/>
              <a:ext cx="10519" cy="10146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5" name="Google Shape;278;p13"/>
            <p:cNvSpPr/>
            <p:nvPr/>
          </p:nvSpPr>
          <p:spPr>
            <a:xfrm>
              <a:off x="8506368" y="4040592"/>
              <a:ext cx="73138" cy="1870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6" name="Google Shape;279;p13"/>
            <p:cNvSpPr/>
            <p:nvPr/>
          </p:nvSpPr>
          <p:spPr>
            <a:xfrm>
              <a:off x="8505963" y="4031629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7" name="Google Shape;280;p13"/>
            <p:cNvSpPr/>
            <p:nvPr/>
          </p:nvSpPr>
          <p:spPr>
            <a:xfrm>
              <a:off x="8554981" y="3984198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8" name="Google Shape;281;p13"/>
            <p:cNvSpPr/>
            <p:nvPr/>
          </p:nvSpPr>
          <p:spPr>
            <a:xfrm>
              <a:off x="8553799" y="3982642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49" name="Google Shape;282;p13"/>
            <p:cNvSpPr/>
            <p:nvPr/>
          </p:nvSpPr>
          <p:spPr>
            <a:xfrm>
              <a:off x="8532791" y="4013733"/>
              <a:ext cx="28446" cy="14036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0" name="Google Shape;283;p13"/>
            <p:cNvSpPr/>
            <p:nvPr/>
          </p:nvSpPr>
          <p:spPr>
            <a:xfrm>
              <a:off x="8531639" y="4013733"/>
              <a:ext cx="20261" cy="24556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1" name="Google Shape;284;p13"/>
            <p:cNvSpPr/>
            <p:nvPr/>
          </p:nvSpPr>
          <p:spPr>
            <a:xfrm>
              <a:off x="8528122" y="4029295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2" name="Google Shape;285;p13"/>
            <p:cNvSpPr/>
            <p:nvPr/>
          </p:nvSpPr>
          <p:spPr>
            <a:xfrm>
              <a:off x="8503256" y="3989240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3" name="Google Shape;286;p13"/>
            <p:cNvSpPr/>
            <p:nvPr/>
          </p:nvSpPr>
          <p:spPr>
            <a:xfrm>
              <a:off x="1274993" y="4187988"/>
              <a:ext cx="686096" cy="237278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4" name="Google Shape;287;p13"/>
            <p:cNvSpPr/>
            <p:nvPr/>
          </p:nvSpPr>
          <p:spPr>
            <a:xfrm>
              <a:off x="1281217" y="4065490"/>
              <a:ext cx="225234" cy="150913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5" name="Google Shape;288;p13"/>
            <p:cNvSpPr/>
            <p:nvPr/>
          </p:nvSpPr>
          <p:spPr>
            <a:xfrm>
              <a:off x="1348504" y="4147529"/>
              <a:ext cx="91033" cy="96106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6" name="Google Shape;289;p13"/>
            <p:cNvSpPr/>
            <p:nvPr/>
          </p:nvSpPr>
          <p:spPr>
            <a:xfrm>
              <a:off x="1406454" y="4154936"/>
              <a:ext cx="31" cy="40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7" name="Google Shape;290;p13"/>
            <p:cNvSpPr/>
            <p:nvPr/>
          </p:nvSpPr>
          <p:spPr>
            <a:xfrm>
              <a:off x="1166500" y="4247868"/>
              <a:ext cx="257476" cy="129158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8" name="Google Shape;291;p13"/>
            <p:cNvSpPr/>
            <p:nvPr/>
          </p:nvSpPr>
          <p:spPr>
            <a:xfrm>
              <a:off x="1490858" y="4271210"/>
              <a:ext cx="110080" cy="99592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59" name="Google Shape;292;p13"/>
            <p:cNvSpPr/>
            <p:nvPr/>
          </p:nvSpPr>
          <p:spPr>
            <a:xfrm>
              <a:off x="1628544" y="4284063"/>
              <a:ext cx="41642" cy="54091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0" name="Google Shape;293;p13"/>
            <p:cNvSpPr/>
            <p:nvPr/>
          </p:nvSpPr>
          <p:spPr>
            <a:xfrm>
              <a:off x="1142753" y="4273544"/>
              <a:ext cx="39712" cy="39712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1" name="Google Shape;294;p13"/>
            <p:cNvSpPr/>
            <p:nvPr/>
          </p:nvSpPr>
          <p:spPr>
            <a:xfrm>
              <a:off x="1236868" y="4193808"/>
              <a:ext cx="96884" cy="140829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2" name="Google Shape;295;p13"/>
            <p:cNvSpPr/>
            <p:nvPr/>
          </p:nvSpPr>
          <p:spPr>
            <a:xfrm>
              <a:off x="1216669" y="4168163"/>
              <a:ext cx="38530" cy="40459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3" name="Google Shape;296;p13"/>
            <p:cNvSpPr/>
            <p:nvPr/>
          </p:nvSpPr>
          <p:spPr>
            <a:xfrm>
              <a:off x="1277327" y="4175166"/>
              <a:ext cx="7034" cy="11671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4" name="Google Shape;297;p13"/>
            <p:cNvSpPr/>
            <p:nvPr/>
          </p:nvSpPr>
          <p:spPr>
            <a:xfrm>
              <a:off x="1441840" y="4215594"/>
              <a:ext cx="12480" cy="859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5" name="Google Shape;298;p13"/>
            <p:cNvSpPr/>
            <p:nvPr/>
          </p:nvSpPr>
          <p:spPr>
            <a:xfrm>
              <a:off x="1266061" y="4351350"/>
              <a:ext cx="195263" cy="34639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6" name="Google Shape;299;p13"/>
            <p:cNvSpPr/>
            <p:nvPr/>
          </p:nvSpPr>
          <p:spPr>
            <a:xfrm>
              <a:off x="1239202" y="4347460"/>
              <a:ext cx="41268" cy="38903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7" name="Google Shape;300;p13"/>
            <p:cNvSpPr/>
            <p:nvPr/>
          </p:nvSpPr>
          <p:spPr>
            <a:xfrm>
              <a:off x="1184364" y="4286398"/>
              <a:ext cx="90660" cy="2801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8" name="Google Shape;301;p13"/>
            <p:cNvSpPr/>
            <p:nvPr/>
          </p:nvSpPr>
          <p:spPr>
            <a:xfrm>
              <a:off x="1185142" y="4278212"/>
              <a:ext cx="87952" cy="29193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69" name="Google Shape;302;p13"/>
            <p:cNvSpPr/>
            <p:nvPr/>
          </p:nvSpPr>
          <p:spPr>
            <a:xfrm>
              <a:off x="1375332" y="4296886"/>
              <a:ext cx="22221" cy="69652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0" name="Google Shape;303;p13"/>
            <p:cNvSpPr/>
            <p:nvPr/>
          </p:nvSpPr>
          <p:spPr>
            <a:xfrm>
              <a:off x="1368734" y="4296886"/>
              <a:ext cx="19856" cy="67691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1" name="Google Shape;304;p13"/>
            <p:cNvSpPr/>
            <p:nvPr/>
          </p:nvSpPr>
          <p:spPr>
            <a:xfrm>
              <a:off x="1707876" y="4257205"/>
              <a:ext cx="103109" cy="33488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2" name="Google Shape;305;p13"/>
            <p:cNvSpPr/>
            <p:nvPr/>
          </p:nvSpPr>
          <p:spPr>
            <a:xfrm>
              <a:off x="1707876" y="4246312"/>
              <a:ext cx="125268" cy="38561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3" name="Google Shape;306;p13"/>
            <p:cNvSpPr/>
            <p:nvPr/>
          </p:nvSpPr>
          <p:spPr>
            <a:xfrm>
              <a:off x="959193" y="3417115"/>
              <a:ext cx="248544" cy="686127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4" name="Google Shape;307;p13"/>
            <p:cNvSpPr/>
            <p:nvPr/>
          </p:nvSpPr>
          <p:spPr>
            <a:xfrm>
              <a:off x="1179696" y="3871784"/>
              <a:ext cx="151349" cy="225234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5" name="Google Shape;308;p13"/>
            <p:cNvSpPr/>
            <p:nvPr/>
          </p:nvSpPr>
          <p:spPr>
            <a:xfrm>
              <a:off x="1152868" y="3937919"/>
              <a:ext cx="96106" cy="91407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6" name="Google Shape;309;p13"/>
            <p:cNvSpPr/>
            <p:nvPr/>
          </p:nvSpPr>
          <p:spPr>
            <a:xfrm>
              <a:off x="1241163" y="3971344"/>
              <a:ext cx="405" cy="436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7" name="Google Shape;310;p13"/>
            <p:cNvSpPr/>
            <p:nvPr/>
          </p:nvSpPr>
          <p:spPr>
            <a:xfrm>
              <a:off x="1019477" y="3954227"/>
              <a:ext cx="129158" cy="257134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8" name="Google Shape;311;p13"/>
            <p:cNvSpPr/>
            <p:nvPr/>
          </p:nvSpPr>
          <p:spPr>
            <a:xfrm>
              <a:off x="1025701" y="3776891"/>
              <a:ext cx="101148" cy="110485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79" name="Google Shape;312;p13"/>
            <p:cNvSpPr/>
            <p:nvPr/>
          </p:nvSpPr>
          <p:spPr>
            <a:xfrm>
              <a:off x="1058349" y="3707675"/>
              <a:ext cx="54495" cy="41642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0" name="Google Shape;313;p13"/>
            <p:cNvSpPr/>
            <p:nvPr/>
          </p:nvSpPr>
          <p:spPr>
            <a:xfrm>
              <a:off x="1082873" y="4195769"/>
              <a:ext cx="40086" cy="39712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1" name="Google Shape;314;p13"/>
            <p:cNvSpPr/>
            <p:nvPr/>
          </p:nvSpPr>
          <p:spPr>
            <a:xfrm>
              <a:off x="1061866" y="4044482"/>
              <a:ext cx="140829" cy="9648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2" name="Google Shape;315;p13"/>
            <p:cNvSpPr/>
            <p:nvPr/>
          </p:nvSpPr>
          <p:spPr>
            <a:xfrm>
              <a:off x="1187881" y="4123036"/>
              <a:ext cx="40490" cy="3853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3" name="Google Shape;316;p13"/>
            <p:cNvSpPr/>
            <p:nvPr/>
          </p:nvSpPr>
          <p:spPr>
            <a:xfrm>
              <a:off x="1209262" y="4093469"/>
              <a:ext cx="12107" cy="7438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4" name="Google Shape;317;p13"/>
            <p:cNvSpPr/>
            <p:nvPr/>
          </p:nvSpPr>
          <p:spPr>
            <a:xfrm>
              <a:off x="1172320" y="3923914"/>
              <a:ext cx="8590" cy="12480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5" name="Google Shape;318;p13"/>
            <p:cNvSpPr/>
            <p:nvPr/>
          </p:nvSpPr>
          <p:spPr>
            <a:xfrm>
              <a:off x="1010514" y="3916911"/>
              <a:ext cx="34670" cy="195263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6" name="Google Shape;319;p13"/>
            <p:cNvSpPr/>
            <p:nvPr/>
          </p:nvSpPr>
          <p:spPr>
            <a:xfrm>
              <a:off x="1010514" y="4097359"/>
              <a:ext cx="38934" cy="41268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7" name="Google Shape;320;p13"/>
            <p:cNvSpPr/>
            <p:nvPr/>
          </p:nvSpPr>
          <p:spPr>
            <a:xfrm>
              <a:off x="1082095" y="4103210"/>
              <a:ext cx="28041" cy="90629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8" name="Google Shape;321;p13"/>
            <p:cNvSpPr/>
            <p:nvPr/>
          </p:nvSpPr>
          <p:spPr>
            <a:xfrm>
              <a:off x="1089471" y="4105140"/>
              <a:ext cx="29193" cy="87921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89" name="Google Shape;322;p13"/>
            <p:cNvSpPr/>
            <p:nvPr/>
          </p:nvSpPr>
          <p:spPr>
            <a:xfrm>
              <a:off x="1029187" y="3980681"/>
              <a:ext cx="70835" cy="22595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0" name="Google Shape;323;p13"/>
            <p:cNvSpPr/>
            <p:nvPr/>
          </p:nvSpPr>
          <p:spPr>
            <a:xfrm>
              <a:off x="1029592" y="3989644"/>
              <a:ext cx="70026" cy="26454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1" name="Google Shape;324;p13"/>
            <p:cNvSpPr/>
            <p:nvPr/>
          </p:nvSpPr>
          <p:spPr>
            <a:xfrm>
              <a:off x="1105811" y="3567250"/>
              <a:ext cx="33083" cy="103109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2" name="Google Shape;325;p13"/>
            <p:cNvSpPr/>
            <p:nvPr/>
          </p:nvSpPr>
          <p:spPr>
            <a:xfrm>
              <a:off x="1111631" y="3545091"/>
              <a:ext cx="38561" cy="125268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3" name="Google Shape;326;p13"/>
            <p:cNvSpPr/>
            <p:nvPr/>
          </p:nvSpPr>
          <p:spPr>
            <a:xfrm>
              <a:off x="1334499" y="4049151"/>
              <a:ext cx="10551" cy="10146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4" name="Google Shape;327;p13"/>
            <p:cNvSpPr/>
            <p:nvPr/>
          </p:nvSpPr>
          <p:spPr>
            <a:xfrm>
              <a:off x="1341906" y="4040592"/>
              <a:ext cx="73511" cy="1870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5" name="Google Shape;328;p13"/>
            <p:cNvSpPr/>
            <p:nvPr/>
          </p:nvSpPr>
          <p:spPr>
            <a:xfrm>
              <a:off x="1383890" y="4031629"/>
              <a:ext cx="31527" cy="21039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6" name="Google Shape;329;p13"/>
            <p:cNvSpPr/>
            <p:nvPr/>
          </p:nvSpPr>
          <p:spPr>
            <a:xfrm>
              <a:off x="1333721" y="3984198"/>
              <a:ext cx="33083" cy="68874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7" name="Google Shape;330;p13"/>
            <p:cNvSpPr/>
            <p:nvPr/>
          </p:nvSpPr>
          <p:spPr>
            <a:xfrm>
              <a:off x="1346948" y="3982642"/>
              <a:ext cx="21039" cy="43198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8" name="Google Shape;331;p13"/>
            <p:cNvSpPr/>
            <p:nvPr/>
          </p:nvSpPr>
          <p:spPr>
            <a:xfrm>
              <a:off x="1360548" y="4013733"/>
              <a:ext cx="28041" cy="14036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199" name="Google Shape;332;p13"/>
            <p:cNvSpPr/>
            <p:nvPr/>
          </p:nvSpPr>
          <p:spPr>
            <a:xfrm>
              <a:off x="1369885" y="4013733"/>
              <a:ext cx="19887" cy="24556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0" name="Google Shape;333;p13"/>
            <p:cNvSpPr/>
            <p:nvPr/>
          </p:nvSpPr>
          <p:spPr>
            <a:xfrm>
              <a:off x="1371846" y="4029295"/>
              <a:ext cx="21817" cy="859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1" name="Google Shape;334;p13"/>
            <p:cNvSpPr/>
            <p:nvPr/>
          </p:nvSpPr>
          <p:spPr>
            <a:xfrm>
              <a:off x="1382739" y="3989240"/>
              <a:ext cx="35791" cy="29193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2" name="Google Shape;335;p13"/>
            <p:cNvSpPr/>
            <p:nvPr/>
          </p:nvSpPr>
          <p:spPr>
            <a:xfrm>
              <a:off x="8677884" y="2234398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3" name="Google Shape;336;p13"/>
            <p:cNvSpPr/>
            <p:nvPr/>
          </p:nvSpPr>
          <p:spPr>
            <a:xfrm>
              <a:off x="8709380" y="1912747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4" name="Google Shape;337;p13"/>
            <p:cNvSpPr/>
            <p:nvPr/>
          </p:nvSpPr>
          <p:spPr>
            <a:xfrm>
              <a:off x="8736986" y="1871541"/>
              <a:ext cx="105816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5" name="Google Shape;338;p13"/>
            <p:cNvSpPr/>
            <p:nvPr/>
          </p:nvSpPr>
          <p:spPr>
            <a:xfrm>
              <a:off x="8757993" y="1794139"/>
              <a:ext cx="16744" cy="68874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6" name="Google Shape;339;p13"/>
            <p:cNvSpPr/>
            <p:nvPr/>
          </p:nvSpPr>
          <p:spPr>
            <a:xfrm>
              <a:off x="8692263" y="2100229"/>
              <a:ext cx="120600" cy="102300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7" name="Google Shape;340;p13"/>
            <p:cNvSpPr/>
            <p:nvPr/>
          </p:nvSpPr>
          <p:spPr>
            <a:xfrm>
              <a:off x="8639759" y="2190826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8" name="Google Shape;341;p13"/>
            <p:cNvSpPr/>
            <p:nvPr/>
          </p:nvSpPr>
          <p:spPr>
            <a:xfrm>
              <a:off x="8625380" y="2191231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09" name="Google Shape;342;p13"/>
            <p:cNvSpPr/>
            <p:nvPr/>
          </p:nvSpPr>
          <p:spPr>
            <a:xfrm>
              <a:off x="8622641" y="2188119"/>
              <a:ext cx="20261" cy="22968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0" name="Google Shape;343;p13"/>
            <p:cNvSpPr/>
            <p:nvPr/>
          </p:nvSpPr>
          <p:spPr>
            <a:xfrm>
              <a:off x="8845510" y="1906149"/>
              <a:ext cx="4295" cy="3517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1" name="Google Shape;344;p13"/>
            <p:cNvSpPr/>
            <p:nvPr/>
          </p:nvSpPr>
          <p:spPr>
            <a:xfrm>
              <a:off x="8773150" y="1745121"/>
              <a:ext cx="22221" cy="52535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2" name="Google Shape;345;p13"/>
            <p:cNvSpPr/>
            <p:nvPr/>
          </p:nvSpPr>
          <p:spPr>
            <a:xfrm>
              <a:off x="8767703" y="1744747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3" name="Google Shape;346;p13"/>
            <p:cNvSpPr/>
            <p:nvPr/>
          </p:nvSpPr>
          <p:spPr>
            <a:xfrm>
              <a:off x="8725315" y="1831081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4" name="Google Shape;347;p13"/>
            <p:cNvSpPr/>
            <p:nvPr/>
          </p:nvSpPr>
          <p:spPr>
            <a:xfrm>
              <a:off x="8725315" y="1830677"/>
              <a:ext cx="36600" cy="41673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5" name="Google Shape;348;p13"/>
            <p:cNvSpPr/>
            <p:nvPr/>
          </p:nvSpPr>
          <p:spPr>
            <a:xfrm>
              <a:off x="8645205" y="2207570"/>
              <a:ext cx="107777" cy="4824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6" name="Google Shape;349;p13"/>
            <p:cNvSpPr/>
            <p:nvPr/>
          </p:nvSpPr>
          <p:spPr>
            <a:xfrm>
              <a:off x="8627714" y="2246442"/>
              <a:ext cx="20230" cy="22221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7" name="Google Shape;350;p13"/>
            <p:cNvSpPr/>
            <p:nvPr/>
          </p:nvSpPr>
          <p:spPr>
            <a:xfrm>
              <a:off x="8665435" y="2161291"/>
              <a:ext cx="101926" cy="381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8" name="Google Shape;351;p13"/>
            <p:cNvSpPr/>
            <p:nvPr/>
          </p:nvSpPr>
          <p:spPr>
            <a:xfrm>
              <a:off x="8653359" y="2149620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19" name="Google Shape;352;p13"/>
            <p:cNvSpPr/>
            <p:nvPr/>
          </p:nvSpPr>
          <p:spPr>
            <a:xfrm>
              <a:off x="8796118" y="1650228"/>
              <a:ext cx="74694" cy="295602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0" name="Google Shape;353;p13"/>
            <p:cNvSpPr/>
            <p:nvPr/>
          </p:nvSpPr>
          <p:spPr>
            <a:xfrm>
              <a:off x="8741280" y="2253849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1" name="Google Shape;354;p13"/>
            <p:cNvSpPr/>
            <p:nvPr/>
          </p:nvSpPr>
          <p:spPr>
            <a:xfrm>
              <a:off x="8794936" y="1948538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2" name="Google Shape;355;p13"/>
            <p:cNvSpPr/>
            <p:nvPr/>
          </p:nvSpPr>
          <p:spPr>
            <a:xfrm>
              <a:off x="8826836" y="1989775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3" name="Google Shape;356;p13"/>
            <p:cNvSpPr/>
            <p:nvPr/>
          </p:nvSpPr>
          <p:spPr>
            <a:xfrm>
              <a:off x="8655320" y="2225466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4" name="Google Shape;357;p13"/>
            <p:cNvSpPr/>
            <p:nvPr/>
          </p:nvSpPr>
          <p:spPr>
            <a:xfrm>
              <a:off x="8770442" y="2002597"/>
              <a:ext cx="18705" cy="3853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5" name="Google Shape;358;p13"/>
            <p:cNvSpPr/>
            <p:nvPr/>
          </p:nvSpPr>
          <p:spPr>
            <a:xfrm>
              <a:off x="8762662" y="1998707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6" name="Google Shape;359;p13"/>
            <p:cNvSpPr/>
            <p:nvPr/>
          </p:nvSpPr>
          <p:spPr>
            <a:xfrm>
              <a:off x="8766147" y="1582568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7" name="Google Shape;360;p13"/>
            <p:cNvSpPr/>
            <p:nvPr/>
          </p:nvSpPr>
          <p:spPr>
            <a:xfrm>
              <a:off x="8719495" y="1590722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8" name="Google Shape;361;p13"/>
            <p:cNvSpPr/>
            <p:nvPr/>
          </p:nvSpPr>
          <p:spPr>
            <a:xfrm>
              <a:off x="8732722" y="1634667"/>
              <a:ext cx="58355" cy="44754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29" name="Google Shape;362;p13"/>
            <p:cNvSpPr/>
            <p:nvPr/>
          </p:nvSpPr>
          <p:spPr>
            <a:xfrm>
              <a:off x="8747878" y="1620662"/>
              <a:ext cx="38156" cy="21412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0" name="Google Shape;363;p13"/>
            <p:cNvSpPr/>
            <p:nvPr/>
          </p:nvSpPr>
          <p:spPr>
            <a:xfrm>
              <a:off x="8710158" y="1926752"/>
              <a:ext cx="89104" cy="68501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1" name="Google Shape;364;p13"/>
            <p:cNvSpPr/>
            <p:nvPr/>
          </p:nvSpPr>
          <p:spPr>
            <a:xfrm>
              <a:off x="8677884" y="2353006"/>
              <a:ext cx="130310" cy="138900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2" name="Google Shape;365;p13"/>
            <p:cNvSpPr/>
            <p:nvPr/>
          </p:nvSpPr>
          <p:spPr>
            <a:xfrm>
              <a:off x="8709380" y="2485245"/>
              <a:ext cx="182440" cy="328311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3" name="Google Shape;366;p13"/>
            <p:cNvSpPr/>
            <p:nvPr/>
          </p:nvSpPr>
          <p:spPr>
            <a:xfrm>
              <a:off x="8737390" y="2729121"/>
              <a:ext cx="105038" cy="125642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4" name="Google Shape;367;p13"/>
            <p:cNvSpPr/>
            <p:nvPr/>
          </p:nvSpPr>
          <p:spPr>
            <a:xfrm>
              <a:off x="8757620" y="2863290"/>
              <a:ext cx="17117" cy="68874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5" name="Google Shape;368;p13"/>
            <p:cNvSpPr/>
            <p:nvPr/>
          </p:nvSpPr>
          <p:spPr>
            <a:xfrm>
              <a:off x="8692667" y="2524553"/>
              <a:ext cx="120195" cy="101522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6" name="Google Shape;369;p13"/>
            <p:cNvSpPr/>
            <p:nvPr/>
          </p:nvSpPr>
          <p:spPr>
            <a:xfrm>
              <a:off x="8639385" y="2507031"/>
              <a:ext cx="137686" cy="2841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7" name="Google Shape;370;p13"/>
            <p:cNvSpPr/>
            <p:nvPr/>
          </p:nvSpPr>
          <p:spPr>
            <a:xfrm>
              <a:off x="8625380" y="2520258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8" name="Google Shape;371;p13"/>
            <p:cNvSpPr/>
            <p:nvPr/>
          </p:nvSpPr>
          <p:spPr>
            <a:xfrm>
              <a:off x="8622268" y="2515216"/>
              <a:ext cx="21412" cy="27637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39" name="Google Shape;372;p13"/>
            <p:cNvSpPr/>
            <p:nvPr/>
          </p:nvSpPr>
          <p:spPr>
            <a:xfrm>
              <a:off x="8845510" y="2816233"/>
              <a:ext cx="4295" cy="3548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0" name="Google Shape;373;p13"/>
            <p:cNvSpPr/>
            <p:nvPr/>
          </p:nvSpPr>
          <p:spPr>
            <a:xfrm>
              <a:off x="8773554" y="2928647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1" name="Google Shape;374;p13"/>
            <p:cNvSpPr/>
            <p:nvPr/>
          </p:nvSpPr>
          <p:spPr>
            <a:xfrm>
              <a:off x="8767703" y="2929021"/>
              <a:ext cx="24556" cy="52535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2" name="Google Shape;375;p13"/>
            <p:cNvSpPr/>
            <p:nvPr/>
          </p:nvSpPr>
          <p:spPr>
            <a:xfrm>
              <a:off x="8725315" y="2853953"/>
              <a:ext cx="37378" cy="41268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3" name="Google Shape;376;p13"/>
            <p:cNvSpPr/>
            <p:nvPr/>
          </p:nvSpPr>
          <p:spPr>
            <a:xfrm>
              <a:off x="8725719" y="2854358"/>
              <a:ext cx="36195" cy="41237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4" name="Google Shape;377;p13"/>
            <p:cNvSpPr/>
            <p:nvPr/>
          </p:nvSpPr>
          <p:spPr>
            <a:xfrm>
              <a:off x="8645205" y="2470462"/>
              <a:ext cx="107777" cy="47898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5" name="Google Shape;378;p13"/>
            <p:cNvSpPr/>
            <p:nvPr/>
          </p:nvSpPr>
          <p:spPr>
            <a:xfrm>
              <a:off x="8627310" y="2457639"/>
              <a:ext cx="20634" cy="22190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6" name="Google Shape;379;p13"/>
            <p:cNvSpPr/>
            <p:nvPr/>
          </p:nvSpPr>
          <p:spPr>
            <a:xfrm>
              <a:off x="8665435" y="2526887"/>
              <a:ext cx="101926" cy="37752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7" name="Google Shape;380;p13"/>
            <p:cNvSpPr/>
            <p:nvPr/>
          </p:nvSpPr>
          <p:spPr>
            <a:xfrm>
              <a:off x="8653359" y="2560313"/>
              <a:ext cx="18331" cy="1637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8" name="Google Shape;381;p13"/>
            <p:cNvSpPr/>
            <p:nvPr/>
          </p:nvSpPr>
          <p:spPr>
            <a:xfrm>
              <a:off x="8796118" y="2780442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49" name="Google Shape;382;p13"/>
            <p:cNvSpPr/>
            <p:nvPr/>
          </p:nvSpPr>
          <p:spPr>
            <a:xfrm>
              <a:off x="8741280" y="2433146"/>
              <a:ext cx="61467" cy="39308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0" name="Google Shape;383;p13"/>
            <p:cNvSpPr/>
            <p:nvPr/>
          </p:nvSpPr>
          <p:spPr>
            <a:xfrm>
              <a:off x="8794936" y="2699959"/>
              <a:ext cx="39308" cy="77806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1" name="Google Shape;384;p13"/>
            <p:cNvSpPr/>
            <p:nvPr/>
          </p:nvSpPr>
          <p:spPr>
            <a:xfrm>
              <a:off x="8826836" y="2698403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2" name="Google Shape;385;p13"/>
            <p:cNvSpPr/>
            <p:nvPr/>
          </p:nvSpPr>
          <p:spPr>
            <a:xfrm>
              <a:off x="8655694" y="2399689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3" name="Google Shape;386;p13"/>
            <p:cNvSpPr/>
            <p:nvPr/>
          </p:nvSpPr>
          <p:spPr>
            <a:xfrm>
              <a:off x="8770442" y="2685176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4" name="Google Shape;387;p13"/>
            <p:cNvSpPr/>
            <p:nvPr/>
          </p:nvSpPr>
          <p:spPr>
            <a:xfrm>
              <a:off x="8762662" y="2684771"/>
              <a:ext cx="27263" cy="42420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5" name="Google Shape;388;p13"/>
            <p:cNvSpPr/>
            <p:nvPr/>
          </p:nvSpPr>
          <p:spPr>
            <a:xfrm>
              <a:off x="8766147" y="2979190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6" name="Google Shape;389;p13"/>
            <p:cNvSpPr/>
            <p:nvPr/>
          </p:nvSpPr>
          <p:spPr>
            <a:xfrm>
              <a:off x="8719495" y="3058926"/>
              <a:ext cx="80918" cy="76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7" name="Google Shape;390;p13"/>
            <p:cNvSpPr/>
            <p:nvPr/>
          </p:nvSpPr>
          <p:spPr>
            <a:xfrm>
              <a:off x="8732722" y="3046477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8" name="Google Shape;391;p13"/>
            <p:cNvSpPr/>
            <p:nvPr/>
          </p:nvSpPr>
          <p:spPr>
            <a:xfrm>
              <a:off x="8747878" y="3084198"/>
              <a:ext cx="38530" cy="21817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59" name="Google Shape;392;p13"/>
            <p:cNvSpPr/>
            <p:nvPr/>
          </p:nvSpPr>
          <p:spPr>
            <a:xfrm>
              <a:off x="8710158" y="2730677"/>
              <a:ext cx="89104" cy="68874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0" name="Google Shape;393;p13"/>
            <p:cNvSpPr/>
            <p:nvPr/>
          </p:nvSpPr>
          <p:spPr>
            <a:xfrm>
              <a:off x="8684108" y="2333181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1" name="Google Shape;394;p13"/>
            <p:cNvSpPr/>
            <p:nvPr/>
          </p:nvSpPr>
          <p:spPr>
            <a:xfrm>
              <a:off x="8679814" y="2332402"/>
              <a:ext cx="7438" cy="21039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2" name="Google Shape;395;p13"/>
            <p:cNvSpPr/>
            <p:nvPr/>
          </p:nvSpPr>
          <p:spPr>
            <a:xfrm>
              <a:off x="8699670" y="2356118"/>
              <a:ext cx="9337" cy="11702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3" name="Google Shape;396;p13"/>
            <p:cNvSpPr/>
            <p:nvPr/>
          </p:nvSpPr>
          <p:spPr>
            <a:xfrm>
              <a:off x="8682926" y="2365081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4" name="Google Shape;397;p13"/>
            <p:cNvSpPr/>
            <p:nvPr/>
          </p:nvSpPr>
          <p:spPr>
            <a:xfrm>
              <a:off x="8677479" y="2359635"/>
              <a:ext cx="12480" cy="29971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5" name="Google Shape;398;p13"/>
            <p:cNvSpPr/>
            <p:nvPr/>
          </p:nvSpPr>
          <p:spPr>
            <a:xfrm>
              <a:off x="8680218" y="2346408"/>
              <a:ext cx="10146" cy="17522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6" name="Google Shape;399;p13"/>
            <p:cNvSpPr/>
            <p:nvPr/>
          </p:nvSpPr>
          <p:spPr>
            <a:xfrm>
              <a:off x="8662696" y="2353006"/>
              <a:ext cx="15592" cy="17927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7" name="Google Shape;400;p13"/>
            <p:cNvSpPr/>
            <p:nvPr/>
          </p:nvSpPr>
          <p:spPr>
            <a:xfrm>
              <a:off x="1086764" y="2353410"/>
              <a:ext cx="130310" cy="138495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8" name="Google Shape;401;p13"/>
            <p:cNvSpPr/>
            <p:nvPr/>
          </p:nvSpPr>
          <p:spPr>
            <a:xfrm>
              <a:off x="1002733" y="2485650"/>
              <a:ext cx="182845" cy="32828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69" name="Google Shape;402;p13"/>
            <p:cNvSpPr/>
            <p:nvPr/>
          </p:nvSpPr>
          <p:spPr>
            <a:xfrm>
              <a:off x="1052529" y="2729899"/>
              <a:ext cx="105817" cy="124863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0" name="Google Shape;403;p13"/>
            <p:cNvSpPr/>
            <p:nvPr/>
          </p:nvSpPr>
          <p:spPr>
            <a:xfrm>
              <a:off x="1120189" y="2863290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1" name="Google Shape;404;p13"/>
            <p:cNvSpPr/>
            <p:nvPr/>
          </p:nvSpPr>
          <p:spPr>
            <a:xfrm>
              <a:off x="1082469" y="2523775"/>
              <a:ext cx="120226" cy="102300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2" name="Google Shape;405;p13"/>
            <p:cNvSpPr/>
            <p:nvPr/>
          </p:nvSpPr>
          <p:spPr>
            <a:xfrm>
              <a:off x="1117482" y="2507031"/>
              <a:ext cx="137717" cy="2841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3" name="Google Shape;406;p13"/>
            <p:cNvSpPr/>
            <p:nvPr/>
          </p:nvSpPr>
          <p:spPr>
            <a:xfrm>
              <a:off x="1254390" y="2520258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4" name="Google Shape;407;p13"/>
            <p:cNvSpPr/>
            <p:nvPr/>
          </p:nvSpPr>
          <p:spPr>
            <a:xfrm>
              <a:off x="1252055" y="2515216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5" name="Google Shape;408;p13"/>
            <p:cNvSpPr/>
            <p:nvPr/>
          </p:nvSpPr>
          <p:spPr>
            <a:xfrm>
              <a:off x="1045526" y="2816233"/>
              <a:ext cx="3921" cy="3548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6" name="Google Shape;409;p13"/>
            <p:cNvSpPr/>
            <p:nvPr/>
          </p:nvSpPr>
          <p:spPr>
            <a:xfrm>
              <a:off x="1099586" y="2928647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7" name="Google Shape;410;p13"/>
            <p:cNvSpPr/>
            <p:nvPr/>
          </p:nvSpPr>
          <p:spPr>
            <a:xfrm>
              <a:off x="1102699" y="2929021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8" name="Google Shape;411;p13"/>
            <p:cNvSpPr/>
            <p:nvPr/>
          </p:nvSpPr>
          <p:spPr>
            <a:xfrm>
              <a:off x="1132265" y="2853953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79" name="Google Shape;412;p13"/>
            <p:cNvSpPr/>
            <p:nvPr/>
          </p:nvSpPr>
          <p:spPr>
            <a:xfrm>
              <a:off x="1133043" y="2854358"/>
              <a:ext cx="36569" cy="41237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0" name="Google Shape;413;p13"/>
            <p:cNvSpPr/>
            <p:nvPr/>
          </p:nvSpPr>
          <p:spPr>
            <a:xfrm>
              <a:off x="1141975" y="2470462"/>
              <a:ext cx="108151" cy="47898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1" name="Google Shape;414;p13"/>
            <p:cNvSpPr/>
            <p:nvPr/>
          </p:nvSpPr>
          <p:spPr>
            <a:xfrm>
              <a:off x="1246982" y="2457639"/>
              <a:ext cx="20261" cy="22190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2" name="Google Shape;415;p13"/>
            <p:cNvSpPr/>
            <p:nvPr/>
          </p:nvSpPr>
          <p:spPr>
            <a:xfrm>
              <a:off x="1127597" y="2526887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3" name="Google Shape;416;p13"/>
            <p:cNvSpPr/>
            <p:nvPr/>
          </p:nvSpPr>
          <p:spPr>
            <a:xfrm>
              <a:off x="1223267" y="2560717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4" name="Google Shape;417;p13"/>
            <p:cNvSpPr/>
            <p:nvPr/>
          </p:nvSpPr>
          <p:spPr>
            <a:xfrm>
              <a:off x="1023741" y="2780442"/>
              <a:ext cx="75099" cy="295633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5" name="Google Shape;418;p13"/>
            <p:cNvSpPr/>
            <p:nvPr/>
          </p:nvSpPr>
          <p:spPr>
            <a:xfrm>
              <a:off x="1092210" y="2432741"/>
              <a:ext cx="61467" cy="39712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6" name="Google Shape;419;p13"/>
            <p:cNvSpPr/>
            <p:nvPr/>
          </p:nvSpPr>
          <p:spPr>
            <a:xfrm>
              <a:off x="1060683" y="2699959"/>
              <a:ext cx="39339" cy="7818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7" name="Google Shape;420;p13"/>
            <p:cNvSpPr/>
            <p:nvPr/>
          </p:nvSpPr>
          <p:spPr>
            <a:xfrm>
              <a:off x="1041263" y="2698403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8" name="Google Shape;421;p13"/>
            <p:cNvSpPr/>
            <p:nvPr/>
          </p:nvSpPr>
          <p:spPr>
            <a:xfrm>
              <a:off x="1169612" y="2399689"/>
              <a:ext cx="70026" cy="101148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89" name="Google Shape;422;p13"/>
            <p:cNvSpPr/>
            <p:nvPr/>
          </p:nvSpPr>
          <p:spPr>
            <a:xfrm>
              <a:off x="1105811" y="2685176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0" name="Google Shape;423;p13"/>
            <p:cNvSpPr/>
            <p:nvPr/>
          </p:nvSpPr>
          <p:spPr>
            <a:xfrm>
              <a:off x="1105033" y="2684771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1" name="Google Shape;424;p13"/>
            <p:cNvSpPr/>
            <p:nvPr/>
          </p:nvSpPr>
          <p:spPr>
            <a:xfrm>
              <a:off x="1054459" y="2979190"/>
              <a:ext cx="74725" cy="16454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2" name="Google Shape;425;p13"/>
            <p:cNvSpPr/>
            <p:nvPr/>
          </p:nvSpPr>
          <p:spPr>
            <a:xfrm>
              <a:off x="1094544" y="3058926"/>
              <a:ext cx="80918" cy="7665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3" name="Google Shape;426;p13"/>
            <p:cNvSpPr/>
            <p:nvPr/>
          </p:nvSpPr>
          <p:spPr>
            <a:xfrm>
              <a:off x="1104255" y="3046477"/>
              <a:ext cx="57981" cy="44754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4" name="Google Shape;427;p13"/>
            <p:cNvSpPr/>
            <p:nvPr/>
          </p:nvSpPr>
          <p:spPr>
            <a:xfrm>
              <a:off x="1108923" y="3084198"/>
              <a:ext cx="38530" cy="21443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5" name="Google Shape;428;p13"/>
            <p:cNvSpPr/>
            <p:nvPr/>
          </p:nvSpPr>
          <p:spPr>
            <a:xfrm>
              <a:off x="1095696" y="2730677"/>
              <a:ext cx="89477" cy="68874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6" name="Google Shape;429;p13"/>
            <p:cNvSpPr/>
            <p:nvPr/>
          </p:nvSpPr>
          <p:spPr>
            <a:xfrm>
              <a:off x="1086764" y="2234398"/>
              <a:ext cx="130310" cy="138869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7" name="Google Shape;430;p13"/>
            <p:cNvSpPr/>
            <p:nvPr/>
          </p:nvSpPr>
          <p:spPr>
            <a:xfrm>
              <a:off x="1003138" y="1912747"/>
              <a:ext cx="182814" cy="327907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8" name="Google Shape;431;p13"/>
            <p:cNvSpPr/>
            <p:nvPr/>
          </p:nvSpPr>
          <p:spPr>
            <a:xfrm>
              <a:off x="1052124" y="1871541"/>
              <a:ext cx="105443" cy="125642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299" name="Google Shape;432;p13"/>
            <p:cNvSpPr/>
            <p:nvPr/>
          </p:nvSpPr>
          <p:spPr>
            <a:xfrm>
              <a:off x="1120189" y="1794139"/>
              <a:ext cx="17148" cy="68874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0" name="Google Shape;433;p13"/>
            <p:cNvSpPr/>
            <p:nvPr/>
          </p:nvSpPr>
          <p:spPr>
            <a:xfrm>
              <a:off x="1082095" y="2100229"/>
              <a:ext cx="120600" cy="101522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1" name="Google Shape;434;p13"/>
            <p:cNvSpPr/>
            <p:nvPr/>
          </p:nvSpPr>
          <p:spPr>
            <a:xfrm>
              <a:off x="1117855" y="2190826"/>
              <a:ext cx="137717" cy="28446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2" name="Google Shape;435;p13"/>
            <p:cNvSpPr/>
            <p:nvPr/>
          </p:nvSpPr>
          <p:spPr>
            <a:xfrm>
              <a:off x="1254390" y="2191231"/>
              <a:ext cx="15188" cy="14814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3" name="Google Shape;436;p13"/>
            <p:cNvSpPr/>
            <p:nvPr/>
          </p:nvSpPr>
          <p:spPr>
            <a:xfrm>
              <a:off x="1250873" y="2183450"/>
              <a:ext cx="21443" cy="27637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4" name="Google Shape;437;p13"/>
            <p:cNvSpPr/>
            <p:nvPr/>
          </p:nvSpPr>
          <p:spPr>
            <a:xfrm>
              <a:off x="1045526" y="1906522"/>
              <a:ext cx="3921" cy="3921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5" name="Google Shape;438;p13"/>
            <p:cNvSpPr/>
            <p:nvPr/>
          </p:nvSpPr>
          <p:spPr>
            <a:xfrm>
              <a:off x="1099586" y="1745121"/>
              <a:ext cx="21817" cy="52535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6" name="Google Shape;439;p13"/>
            <p:cNvSpPr/>
            <p:nvPr/>
          </p:nvSpPr>
          <p:spPr>
            <a:xfrm>
              <a:off x="1102699" y="1744747"/>
              <a:ext cx="24525" cy="52535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7" name="Google Shape;440;p13"/>
            <p:cNvSpPr/>
            <p:nvPr/>
          </p:nvSpPr>
          <p:spPr>
            <a:xfrm>
              <a:off x="1132265" y="1831081"/>
              <a:ext cx="37347" cy="41268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8" name="Google Shape;441;p13"/>
            <p:cNvSpPr/>
            <p:nvPr/>
          </p:nvSpPr>
          <p:spPr>
            <a:xfrm>
              <a:off x="1133043" y="1830677"/>
              <a:ext cx="36195" cy="41673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09" name="Google Shape;442;p13"/>
            <p:cNvSpPr/>
            <p:nvPr/>
          </p:nvSpPr>
          <p:spPr>
            <a:xfrm>
              <a:off x="1141975" y="2207944"/>
              <a:ext cx="108151" cy="47866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0" name="Google Shape;443;p13"/>
            <p:cNvSpPr/>
            <p:nvPr/>
          </p:nvSpPr>
          <p:spPr>
            <a:xfrm>
              <a:off x="1246982" y="2246442"/>
              <a:ext cx="20665" cy="22221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1" name="Google Shape;444;p13"/>
            <p:cNvSpPr/>
            <p:nvPr/>
          </p:nvSpPr>
          <p:spPr>
            <a:xfrm>
              <a:off x="1127597" y="2161291"/>
              <a:ext cx="102300" cy="381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2" name="Google Shape;445;p13"/>
            <p:cNvSpPr/>
            <p:nvPr/>
          </p:nvSpPr>
          <p:spPr>
            <a:xfrm>
              <a:off x="1223267" y="2149620"/>
              <a:ext cx="18705" cy="15966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3" name="Google Shape;446;p13"/>
            <p:cNvSpPr/>
            <p:nvPr/>
          </p:nvSpPr>
          <p:spPr>
            <a:xfrm>
              <a:off x="1023741" y="1650228"/>
              <a:ext cx="75099" cy="295602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4" name="Google Shape;447;p13"/>
            <p:cNvSpPr/>
            <p:nvPr/>
          </p:nvSpPr>
          <p:spPr>
            <a:xfrm>
              <a:off x="1092210" y="2253849"/>
              <a:ext cx="61467" cy="39681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5" name="Google Shape;448;p13"/>
            <p:cNvSpPr/>
            <p:nvPr/>
          </p:nvSpPr>
          <p:spPr>
            <a:xfrm>
              <a:off x="1060683" y="1948538"/>
              <a:ext cx="39339" cy="77806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6" name="Google Shape;449;p13"/>
            <p:cNvSpPr/>
            <p:nvPr/>
          </p:nvSpPr>
          <p:spPr>
            <a:xfrm>
              <a:off x="1041263" y="1989775"/>
              <a:ext cx="26859" cy="381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7" name="Google Shape;450;p13"/>
            <p:cNvSpPr/>
            <p:nvPr/>
          </p:nvSpPr>
          <p:spPr>
            <a:xfrm>
              <a:off x="1169207" y="2225466"/>
              <a:ext cx="70430" cy="101148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8" name="Google Shape;451;p13"/>
            <p:cNvSpPr/>
            <p:nvPr/>
          </p:nvSpPr>
          <p:spPr>
            <a:xfrm>
              <a:off x="1105437" y="2002597"/>
              <a:ext cx="19078" cy="3853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19" name="Google Shape;452;p13"/>
            <p:cNvSpPr/>
            <p:nvPr/>
          </p:nvSpPr>
          <p:spPr>
            <a:xfrm>
              <a:off x="1105033" y="1998707"/>
              <a:ext cx="27263" cy="42825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0" name="Google Shape;453;p13"/>
            <p:cNvSpPr/>
            <p:nvPr/>
          </p:nvSpPr>
          <p:spPr>
            <a:xfrm>
              <a:off x="1054459" y="1582568"/>
              <a:ext cx="74321" cy="16454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1" name="Google Shape;454;p13"/>
            <p:cNvSpPr/>
            <p:nvPr/>
          </p:nvSpPr>
          <p:spPr>
            <a:xfrm>
              <a:off x="1094544" y="1591096"/>
              <a:ext cx="80918" cy="76281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2" name="Google Shape;455;p13"/>
            <p:cNvSpPr/>
            <p:nvPr/>
          </p:nvSpPr>
          <p:spPr>
            <a:xfrm>
              <a:off x="1104255" y="1634667"/>
              <a:ext cx="58386" cy="44754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3" name="Google Shape;456;p13"/>
            <p:cNvSpPr/>
            <p:nvPr/>
          </p:nvSpPr>
          <p:spPr>
            <a:xfrm>
              <a:off x="1108923" y="1620289"/>
              <a:ext cx="38530" cy="21786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4" name="Google Shape;457;p13"/>
            <p:cNvSpPr/>
            <p:nvPr/>
          </p:nvSpPr>
          <p:spPr>
            <a:xfrm>
              <a:off x="1096101" y="1926752"/>
              <a:ext cx="89073" cy="68874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5" name="Google Shape;458;p13"/>
            <p:cNvSpPr/>
            <p:nvPr/>
          </p:nvSpPr>
          <p:spPr>
            <a:xfrm>
              <a:off x="1191771" y="2368193"/>
              <a:ext cx="19078" cy="24929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6" name="Google Shape;459;p13"/>
            <p:cNvSpPr/>
            <p:nvPr/>
          </p:nvSpPr>
          <p:spPr>
            <a:xfrm>
              <a:off x="1208110" y="2372457"/>
              <a:ext cx="7407" cy="21039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7" name="Google Shape;460;p13"/>
            <p:cNvSpPr/>
            <p:nvPr/>
          </p:nvSpPr>
          <p:spPr>
            <a:xfrm>
              <a:off x="1185920" y="2358452"/>
              <a:ext cx="9368" cy="11702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8" name="Google Shape;461;p13"/>
            <p:cNvSpPr/>
            <p:nvPr/>
          </p:nvSpPr>
          <p:spPr>
            <a:xfrm>
              <a:off x="1192923" y="2335919"/>
              <a:ext cx="19483" cy="25303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29" name="Google Shape;462;p13"/>
            <p:cNvSpPr/>
            <p:nvPr/>
          </p:nvSpPr>
          <p:spPr>
            <a:xfrm>
              <a:off x="1204998" y="2336293"/>
              <a:ext cx="12854" cy="30376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30" name="Google Shape;463;p13"/>
            <p:cNvSpPr/>
            <p:nvPr/>
          </p:nvSpPr>
          <p:spPr>
            <a:xfrm>
              <a:off x="1204594" y="2362342"/>
              <a:ext cx="10146" cy="17553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  <p:sp>
          <p:nvSpPr>
            <p:cNvPr id="331" name="Google Shape;464;p13"/>
            <p:cNvSpPr/>
            <p:nvPr/>
          </p:nvSpPr>
          <p:spPr>
            <a:xfrm>
              <a:off x="1216669" y="2355340"/>
              <a:ext cx="15561" cy="17927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rgbClr val="724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/>
            </a:p>
          </p:txBody>
        </p:sp>
      </p:grpSp>
    </p:spTree>
    <p:extLst>
      <p:ext uri="{BB962C8B-B14F-4D97-AF65-F5344CB8AC3E}">
        <p14:creationId xmlns:p14="http://schemas.microsoft.com/office/powerpoint/2010/main" val="128194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4"/>
          <p:cNvSpPr txBox="1"/>
          <p:nvPr/>
        </p:nvSpPr>
        <p:spPr>
          <a:xfrm>
            <a:off x="713250" y="415800"/>
            <a:ext cx="77175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dirty="0" smtClean="0">
                <a:solidFill>
                  <a:srgbClr val="35240A"/>
                </a:solidFill>
                <a:latin typeface="+mj-lt"/>
                <a:ea typeface="Libre Baskerville"/>
                <a:cs typeface="Libre Baskerville"/>
                <a:sym typeface="Libre Baskerville"/>
              </a:rPr>
              <a:t>Описание </a:t>
            </a:r>
            <a:r>
              <a:rPr lang="ru" sz="2700" dirty="0">
                <a:solidFill>
                  <a:srgbClr val="35240A"/>
                </a:solidFill>
                <a:latin typeface="+mj-lt"/>
                <a:ea typeface="Libre Baskerville"/>
                <a:cs typeface="Libre Baskerville"/>
                <a:sym typeface="Libre Baskerville"/>
              </a:rPr>
              <a:t>курса</a:t>
            </a:r>
            <a:endParaRPr sz="2700" dirty="0">
              <a:solidFill>
                <a:srgbClr val="35240A"/>
              </a:solidFill>
              <a:latin typeface="+mj-lt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312550" y="2830000"/>
            <a:ext cx="3677400" cy="17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Татары, желающие получше узнать, сохранить и передать свою культуру и традиции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smtClean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Люди</a:t>
            </a: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, живущие далеко от Родины (Татарстана) и скучающие по ней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Люди, увлекающиеся разными культурами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471" name="Google Shape;4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627" y="1183088"/>
            <a:ext cx="1838275" cy="252687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4"/>
          <p:cNvSpPr txBox="1"/>
          <p:nvPr/>
        </p:nvSpPr>
        <p:spPr>
          <a:xfrm>
            <a:off x="421150" y="1440288"/>
            <a:ext cx="3568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Данный курс погрузит вас в мир татарской кухни, раскрывая ее через призму истории, культуры и религии татарского народа.</a:t>
            </a:r>
            <a:endParaRPr sz="1300" dirty="0"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1100050" y="2356200"/>
            <a:ext cx="221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solidFill>
                  <a:schemeClr val="dk1"/>
                </a:solidFill>
                <a:latin typeface="+mn-lt"/>
                <a:ea typeface="Libre Baskerville"/>
                <a:cs typeface="Libre Baskerville"/>
                <a:sym typeface="Libre Baskerville"/>
              </a:rPr>
              <a:t>Целевая аудитория</a:t>
            </a:r>
            <a:endParaRPr sz="1600" b="1" dirty="0">
              <a:solidFill>
                <a:schemeClr val="dk1"/>
              </a:solidFill>
              <a:latin typeface="+mn-lt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4" name="Google Shape;474;p14"/>
          <p:cNvSpPr txBox="1"/>
          <p:nvPr/>
        </p:nvSpPr>
        <p:spPr>
          <a:xfrm>
            <a:off x="5974025" y="1440300"/>
            <a:ext cx="246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solidFill>
                  <a:srgbClr val="35240A"/>
                </a:solidFill>
                <a:latin typeface="+mn-lt"/>
                <a:ea typeface="Libre Baskerville"/>
                <a:cs typeface="Libre Baskerville"/>
                <a:sym typeface="Libre Baskerville"/>
              </a:rPr>
              <a:t>Форма реализации</a:t>
            </a:r>
            <a:endParaRPr sz="1600" b="1" dirty="0">
              <a:solidFill>
                <a:srgbClr val="35240A"/>
              </a:solidFill>
              <a:latin typeface="+mn-lt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5" name="Google Shape;475;p14"/>
          <p:cNvSpPr txBox="1"/>
          <p:nvPr/>
        </p:nvSpPr>
        <p:spPr>
          <a:xfrm>
            <a:off x="972700" y="1009200"/>
            <a:ext cx="246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solidFill>
                  <a:schemeClr val="dk1"/>
                </a:solidFill>
                <a:latin typeface="+mn-lt"/>
                <a:ea typeface="Libre Baskerville"/>
                <a:cs typeface="Libre Baskerville"/>
                <a:sym typeface="Libre Baskerville"/>
              </a:rPr>
              <a:t>Знакомство с курсом</a:t>
            </a:r>
            <a:endParaRPr sz="1600" b="1" dirty="0">
              <a:solidFill>
                <a:schemeClr val="dk1"/>
              </a:solidFill>
              <a:latin typeface="+mn-lt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5506625" y="1909825"/>
            <a:ext cx="3281775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Бесплатный онлайн-курс с гибким графиком обучения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4 асинхронных блока и 1 практический блок (синхронный) 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Тесты, задания для самоконтроля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300"/>
              <a:buFont typeface="Source Sans 3"/>
              <a:buChar char="●"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Закрытый чат для обсуждения в telegram</a:t>
            </a:r>
            <a:endParaRPr sz="13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Цели и образовательные результаты курса</a:t>
            </a:r>
            <a:endParaRPr dirty="0">
              <a:latin typeface="+mj-lt"/>
            </a:endParaRPr>
          </a:p>
        </p:txBody>
      </p:sp>
      <p:sp>
        <p:nvSpPr>
          <p:cNvPr id="482" name="Google Shape;482;p15"/>
          <p:cNvSpPr txBox="1">
            <a:spLocks noGrp="1"/>
          </p:cNvSpPr>
          <p:nvPr>
            <p:ph type="body" idx="1"/>
          </p:nvPr>
        </p:nvSpPr>
        <p:spPr>
          <a:xfrm>
            <a:off x="563475" y="1149000"/>
            <a:ext cx="3295800" cy="31036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35240A"/>
                </a:solidFill>
                <a:latin typeface="+mn-lt"/>
              </a:rPr>
              <a:t>Цели:</a:t>
            </a:r>
            <a:endParaRPr b="1" dirty="0">
              <a:solidFill>
                <a:srgbClr val="35240A"/>
              </a:solidFill>
              <a:latin typeface="+mn-lt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ru" sz="1100" dirty="0">
                <a:latin typeface="+mn-lt"/>
              </a:rPr>
              <a:t>познакомить слушателей с татарской кухней и ее историей</a:t>
            </a:r>
            <a:endParaRPr sz="1100" dirty="0">
              <a:latin typeface="+mn-l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100" dirty="0">
                <a:latin typeface="+mn-lt"/>
              </a:rPr>
              <a:t>раскрыть связь татарской кухни с культурой и религией</a:t>
            </a:r>
            <a:endParaRPr sz="1100" dirty="0">
              <a:latin typeface="+mn-l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100" dirty="0">
                <a:latin typeface="+mn-lt"/>
              </a:rPr>
              <a:t>показать, как татарская кухня продолжает развиваться в современном мире</a:t>
            </a:r>
            <a:endParaRPr sz="1100" dirty="0">
              <a:latin typeface="+mn-l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100" dirty="0">
                <a:latin typeface="+mn-lt"/>
              </a:rPr>
              <a:t>обучить приготовлению национальных блюд с использованием семейных рецептов, передающихся из поколения в </a:t>
            </a:r>
            <a:r>
              <a:rPr lang="ru" sz="1100" dirty="0" smtClean="0">
                <a:latin typeface="+mn-lt"/>
              </a:rPr>
              <a:t>поколение</a:t>
            </a:r>
            <a:endParaRPr sz="1100" dirty="0">
              <a:latin typeface="+mn-lt"/>
            </a:endParaRPr>
          </a:p>
        </p:txBody>
      </p:sp>
      <p:sp>
        <p:nvSpPr>
          <p:cNvPr id="483" name="Google Shape;483;p15"/>
          <p:cNvSpPr txBox="1"/>
          <p:nvPr/>
        </p:nvSpPr>
        <p:spPr>
          <a:xfrm>
            <a:off x="3815200" y="1226275"/>
            <a:ext cx="4941600" cy="328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Образовательные результаты:</a:t>
            </a:r>
            <a:endParaRPr b="1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учащиеся смогут вспомнить и перечислить основные блюда татарской кухни и их ключевые ингредиенты (</a:t>
            </a:r>
            <a:r>
              <a:rPr lang="ru" sz="11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знание</a:t>
            </a: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):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 не менее 5 основных блюд татарской кухни и для каждого блюда не менее 3 ключевых ингредиентов;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учащиеся смогут объяснить значение традиционных татарских блюд и их связь с культурными, историческими и религиозными аспектами (</a:t>
            </a:r>
            <a:r>
              <a:rPr lang="ru" sz="11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понимание</a:t>
            </a: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);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учащиеся смогут приготовить традиционные татарские блюда, следуя рецептам и видеоурокам (</a:t>
            </a:r>
            <a:r>
              <a:rPr lang="ru" sz="11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применение</a:t>
            </a: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)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учащиеся смогут сравнить современные и региональные вариации блюд (</a:t>
            </a:r>
            <a:r>
              <a:rPr lang="ru" sz="11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анализ</a:t>
            </a: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);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</a:pP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учащиеся смогут создать собственное меню на 7-10 блюд для татарского традиционного мероприятия с учетом специфики мероприятия и баланса: мясные/мучные/десерты (</a:t>
            </a:r>
            <a:r>
              <a:rPr lang="ru" sz="11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создание</a:t>
            </a:r>
            <a:r>
              <a:rPr lang="ru" sz="11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)</a:t>
            </a:r>
            <a:endParaRPr sz="11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484" name="Google Shape;484;p15" title="976df9df1a790afc2d58c7c41c26cb1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425" y="4013550"/>
            <a:ext cx="2589901" cy="12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Связь элементов курса</a:t>
            </a:r>
            <a:endParaRPr dirty="0">
              <a:latin typeface="+mj-lt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502975" y="1232050"/>
            <a:ext cx="10659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Введение в татарскую кухню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1778213" y="1232050"/>
            <a:ext cx="12774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История и влияние географического положения на кухню</a:t>
            </a:r>
            <a:endParaRPr sz="10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067163" y="1232050"/>
            <a:ext cx="11541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Приготовле-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ние татарских блюд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3272688" y="1232050"/>
            <a:ext cx="11541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Основные блюда татарской кухни</a:t>
            </a:r>
            <a:endParaRPr sz="10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4663125" y="1232050"/>
            <a:ext cx="11541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Религия, традиции и их связь с кухней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7471225" y="1232050"/>
            <a:ext cx="1065900" cy="765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Итоговое задание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496" name="Google Shape;496;p16"/>
          <p:cNvCxnSpPr>
            <a:stCxn id="490" idx="3"/>
            <a:endCxn id="491" idx="1"/>
          </p:cNvCxnSpPr>
          <p:nvPr/>
        </p:nvCxnSpPr>
        <p:spPr>
          <a:xfrm>
            <a:off x="1568875" y="1614550"/>
            <a:ext cx="20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" name="Google Shape;497;p16"/>
          <p:cNvCxnSpPr>
            <a:stCxn id="491" idx="3"/>
            <a:endCxn id="493" idx="1"/>
          </p:cNvCxnSpPr>
          <p:nvPr/>
        </p:nvCxnSpPr>
        <p:spPr>
          <a:xfrm>
            <a:off x="3055613" y="1614550"/>
            <a:ext cx="21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8" name="Google Shape;498;p16"/>
          <p:cNvCxnSpPr>
            <a:stCxn id="493" idx="3"/>
            <a:endCxn id="494" idx="1"/>
          </p:cNvCxnSpPr>
          <p:nvPr/>
        </p:nvCxnSpPr>
        <p:spPr>
          <a:xfrm>
            <a:off x="4426788" y="1614550"/>
            <a:ext cx="23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9" name="Google Shape;499;p16"/>
          <p:cNvCxnSpPr>
            <a:stCxn id="494" idx="3"/>
            <a:endCxn id="492" idx="1"/>
          </p:cNvCxnSpPr>
          <p:nvPr/>
        </p:nvCxnSpPr>
        <p:spPr>
          <a:xfrm>
            <a:off x="5817225" y="1614550"/>
            <a:ext cx="24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Google Shape;500;p16"/>
          <p:cNvCxnSpPr>
            <a:stCxn id="492" idx="3"/>
            <a:endCxn id="495" idx="1"/>
          </p:cNvCxnSpPr>
          <p:nvPr/>
        </p:nvCxnSpPr>
        <p:spPr>
          <a:xfrm>
            <a:off x="7221263" y="1614550"/>
            <a:ext cx="24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16"/>
          <p:cNvSpPr txBox="1"/>
          <p:nvPr/>
        </p:nvSpPr>
        <p:spPr>
          <a:xfrm>
            <a:off x="502900" y="2521250"/>
            <a:ext cx="106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2" name="Google Shape;502;p16"/>
          <p:cNvSpPr txBox="1"/>
          <p:nvPr/>
        </p:nvSpPr>
        <p:spPr>
          <a:xfrm>
            <a:off x="547200" y="2292200"/>
            <a:ext cx="33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n-lt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3" name="Google Shape;503;p16"/>
          <p:cNvSpPr txBox="1"/>
          <p:nvPr/>
        </p:nvSpPr>
        <p:spPr>
          <a:xfrm>
            <a:off x="871325" y="2781712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3 тематические лекции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1-2 практических задания (письменные с проверкой от куратора и интерактивные с автопроверкой)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Материалы для самостоятельного изучения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Тесты с автопроверкой после блока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04" name="Google Shape;5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75" y="2291050"/>
            <a:ext cx="263700" cy="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847875" y="2202225"/>
            <a:ext cx="28626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Теоретические блоки (1-4) построены по единому шаблону:</a:t>
            </a:r>
            <a:endParaRPr sz="1300" dirty="0">
              <a:latin typeface="+mn-lt"/>
            </a:endParaRPr>
          </a:p>
        </p:txBody>
      </p:sp>
      <p:pic>
        <p:nvPicPr>
          <p:cNvPr id="506" name="Google Shape;5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675" y="3405525"/>
            <a:ext cx="338700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75" y="3943421"/>
            <a:ext cx="338700" cy="338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075" y="2741129"/>
            <a:ext cx="419900" cy="419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175" y="4396575"/>
            <a:ext cx="263700" cy="2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675" y="2291050"/>
            <a:ext cx="263700" cy="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6"/>
          <p:cNvSpPr txBox="1"/>
          <p:nvPr/>
        </p:nvSpPr>
        <p:spPr>
          <a:xfrm>
            <a:off x="4117875" y="2222800"/>
            <a:ext cx="20067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Блок 5. Практический:</a:t>
            </a:r>
            <a:endParaRPr sz="1300" dirty="0">
              <a:latin typeface="+mn-lt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4141600" y="2571750"/>
            <a:ext cx="2333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2 онлайн-вебинара с пошаговым приготовлением: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основного блюда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десерта 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взаимооценивание в чате telegram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13" name="Google Shape;51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7925" y="3606475"/>
            <a:ext cx="301201" cy="3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79175" y="2781712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6"/>
          <p:cNvSpPr txBox="1"/>
          <p:nvPr/>
        </p:nvSpPr>
        <p:spPr>
          <a:xfrm>
            <a:off x="6693725" y="2222800"/>
            <a:ext cx="16431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Итоговое задание:</a:t>
            </a:r>
            <a:endParaRPr sz="1300" dirty="0">
              <a:solidFill>
                <a:srgbClr val="35240A"/>
              </a:solidFill>
              <a:latin typeface="+mn-lt"/>
            </a:endParaRPr>
          </a:p>
        </p:txBody>
      </p:sp>
      <p:pic>
        <p:nvPicPr>
          <p:cNvPr id="516" name="Google Shape;5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25" y="2291050"/>
            <a:ext cx="263700" cy="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6"/>
          <p:cNvSpPr txBox="1"/>
          <p:nvPr/>
        </p:nvSpPr>
        <p:spPr>
          <a:xfrm>
            <a:off x="6693725" y="2571750"/>
            <a:ext cx="20526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создание меню для татарского традиционного мероприятия из 7-10 блюд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форма отчета: презентация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проверка преподавателем</a:t>
            </a:r>
            <a:endParaRPr sz="1200" dirty="0">
              <a:solidFill>
                <a:srgbClr val="35240A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18" name="Google Shape;51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11275" y="2800451"/>
            <a:ext cx="301201" cy="3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30025" y="3665812"/>
            <a:ext cx="263700" cy="2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41793" y="4242211"/>
            <a:ext cx="263700" cy="2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"/>
          <p:cNvSpPr txBox="1">
            <a:spLocks noGrp="1"/>
          </p:cNvSpPr>
          <p:nvPr>
            <p:ph type="title"/>
          </p:nvPr>
        </p:nvSpPr>
        <p:spPr>
          <a:xfrm>
            <a:off x="678250" y="613400"/>
            <a:ext cx="77175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Связь элементов курса</a:t>
            </a:r>
            <a:endParaRPr dirty="0">
              <a:latin typeface="+mj-lt"/>
            </a:endParaRPr>
          </a:p>
        </p:txBody>
      </p:sp>
      <p:pic>
        <p:nvPicPr>
          <p:cNvPr id="526" name="Google Shape;5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250" y="1278200"/>
            <a:ext cx="263700" cy="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7"/>
          <p:cNvSpPr txBox="1"/>
          <p:nvPr/>
        </p:nvSpPr>
        <p:spPr>
          <a:xfrm>
            <a:off x="554878" y="1194500"/>
            <a:ext cx="5622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5240A"/>
                </a:solidFill>
                <a:latin typeface="+mn-lt"/>
                <a:ea typeface="Source Sans 3"/>
                <a:cs typeface="Source Sans 3"/>
                <a:sym typeface="Source Sans 3"/>
              </a:rPr>
              <a:t>Примерные критерии оценивания письменных заданий:</a:t>
            </a:r>
            <a:endParaRPr dirty="0">
              <a:latin typeface="+mn-lt"/>
              <a:ea typeface="Source Sans 3"/>
              <a:cs typeface="Source Sans 3"/>
              <a:sym typeface="Source Sans 3"/>
            </a:endParaRPr>
          </a:p>
        </p:txBody>
      </p:sp>
      <p:graphicFrame>
        <p:nvGraphicFramePr>
          <p:cNvPr id="528" name="Google Shape;528;p17"/>
          <p:cNvGraphicFramePr/>
          <p:nvPr>
            <p:extLst>
              <p:ext uri="{D42A27DB-BD31-4B8C-83A1-F6EECF244321}">
                <p14:modId xmlns:p14="http://schemas.microsoft.com/office/powerpoint/2010/main" val="1575403891"/>
              </p:ext>
            </p:extLst>
          </p:nvPr>
        </p:nvGraphicFramePr>
        <p:xfrm>
          <a:off x="669400" y="1625600"/>
          <a:ext cx="5826950" cy="2921025"/>
        </p:xfrm>
        <a:graphic>
          <a:graphicData uri="http://schemas.openxmlformats.org/drawingml/2006/table">
            <a:tbl>
              <a:tblPr>
                <a:noFill/>
                <a:tableStyleId>{F51BBA3E-5B35-42AA-BB61-53A93222CCA1}</a:tableStyleId>
              </a:tblPr>
              <a:tblGrid>
                <a:gridCol w="291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Полнота раскрытия темы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0-4 балла</a:t>
                      </a:r>
                      <a:endParaRPr sz="120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Связь с курсом (применение теории из лекций)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0-2 балла</a:t>
                      </a:r>
                      <a:endParaRPr sz="120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Культурная точность (</a:t>
                      </a:r>
                      <a:r>
                        <a:rPr lang="ru" sz="1200" b="1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для итогового задания</a:t>
                      </a: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)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0-2 балла</a:t>
                      </a:r>
                      <a:endParaRPr sz="120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Оформление (</a:t>
                      </a:r>
                      <a:r>
                        <a:rPr lang="ru" sz="1200" b="1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для итогового задания</a:t>
                      </a: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)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0-1 балла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Анализ</a:t>
                      </a:r>
                      <a:endParaRPr sz="120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0-3 балла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Оригинальность</a:t>
                      </a:r>
                      <a:endParaRPr sz="120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latin typeface="+mn-lt"/>
                          <a:ea typeface="Source Sans 3"/>
                          <a:cs typeface="Source Sans 3"/>
                          <a:sym typeface="Source Sans 3"/>
                        </a:rPr>
                        <a:t>0-2 балла</a:t>
                      </a:r>
                      <a:endParaRPr sz="1200" dirty="0">
                        <a:latin typeface="+mn-lt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29" name="Google Shape;52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275" y="956263"/>
            <a:ext cx="1615475" cy="161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8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Тематические блоки </a:t>
            </a:r>
            <a:endParaRPr dirty="0">
              <a:latin typeface="+mj-lt"/>
            </a:endParaRPr>
          </a:p>
        </p:txBody>
      </p:sp>
      <p:sp>
        <p:nvSpPr>
          <p:cNvPr id="535" name="Google Shape;535;p18"/>
          <p:cNvSpPr txBox="1">
            <a:spLocks noGrp="1"/>
          </p:cNvSpPr>
          <p:nvPr>
            <p:ph type="body" idx="1"/>
          </p:nvPr>
        </p:nvSpPr>
        <p:spPr>
          <a:xfrm>
            <a:off x="713250" y="1200302"/>
            <a:ext cx="7717500" cy="32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latin typeface="+mn-lt"/>
              </a:rPr>
              <a:t>Блок 1. Введение в татарскую кухню</a:t>
            </a:r>
            <a:endParaRPr sz="16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В этом блоке мы откроем для себя татарскую кухню как уникальное культурное достояние. В данном разделе мы: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проследим связь кулинарных традиций и многовековой истории татар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изучим золотой фонд: от душистой выпечки до целебных молочных продуктов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поймем сакральный смысл совместных трапез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освоим принципы настоящего татарского гостеприимства</a:t>
            </a:r>
            <a:endParaRPr dirty="0">
              <a:latin typeface="+mn-lt"/>
            </a:endParaRPr>
          </a:p>
        </p:txBody>
      </p:sp>
      <p:pic>
        <p:nvPicPr>
          <p:cNvPr id="536" name="Google Shape;5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19588" y="2370550"/>
            <a:ext cx="3849174" cy="21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9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Тематические блоки</a:t>
            </a:r>
            <a:endParaRPr dirty="0">
              <a:latin typeface="+mj-lt"/>
            </a:endParaRPr>
          </a:p>
        </p:txBody>
      </p:sp>
      <p:sp>
        <p:nvSpPr>
          <p:cNvPr id="542" name="Google Shape;542;p19"/>
          <p:cNvSpPr txBox="1">
            <a:spLocks noGrp="1"/>
          </p:cNvSpPr>
          <p:nvPr>
            <p:ph type="body" idx="1"/>
          </p:nvPr>
        </p:nvSpPr>
        <p:spPr>
          <a:xfrm>
            <a:off x="713250" y="1112750"/>
            <a:ext cx="5279700" cy="3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latin typeface="+mn-lt"/>
              </a:rPr>
              <a:t>Блок 2. История и влияние географического положения на кухню</a:t>
            </a:r>
            <a:endParaRPr sz="16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В этом блоке мы совершим путешествие во времени и пространству, чтобы понять: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как формировалась татарская кухня — от кочевых традиций до современности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как реки и торговые пути подарили нам уникальное сочетание вкусов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почему география диктует правила — чем отличаются блюда степных, лесных и речных регионов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как татарская кухня сохранила практичность кочевников и обогатила ее оседлым разнообразием</a:t>
            </a:r>
            <a:endParaRPr dirty="0">
              <a:latin typeface="+mn-lt"/>
            </a:endParaRPr>
          </a:p>
        </p:txBody>
      </p:sp>
      <p:pic>
        <p:nvPicPr>
          <p:cNvPr id="543" name="Google Shape;5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200" y="718188"/>
            <a:ext cx="4998125" cy="42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7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Тематические блоки</a:t>
            </a:r>
            <a:endParaRPr dirty="0">
              <a:latin typeface="+mj-lt"/>
            </a:endParaRPr>
          </a:p>
        </p:txBody>
      </p:sp>
      <p:sp>
        <p:nvSpPr>
          <p:cNvPr id="549" name="Google Shape;549;p20"/>
          <p:cNvSpPr txBox="1">
            <a:spLocks noGrp="1"/>
          </p:cNvSpPr>
          <p:nvPr>
            <p:ph type="body" idx="1"/>
          </p:nvPr>
        </p:nvSpPr>
        <p:spPr>
          <a:xfrm>
            <a:off x="669525" y="1054750"/>
            <a:ext cx="7860000" cy="1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latin typeface="+mn-lt"/>
              </a:rPr>
              <a:t>Блок 3. Основные блюда татарской кухни</a:t>
            </a:r>
            <a:endParaRPr sz="16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В этом блоке мы изучим гастрономические символы татарской кухни, которые веками формировали её уникальный вкус. Основные направления изучения:</a:t>
            </a: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50" name="Google Shape;550;p20"/>
          <p:cNvSpPr txBox="1"/>
          <p:nvPr/>
        </p:nvSpPr>
        <p:spPr>
          <a:xfrm>
            <a:off x="713225" y="2083750"/>
            <a:ext cx="4116300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ru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выпечка: от повседневных эчпочмаков до праздничной губадии</a:t>
            </a:r>
            <a:endParaRPr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ru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мясные блюда: эволюция от кочевой вяленой казылык к томленой баранине</a:t>
            </a:r>
            <a:endParaRPr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ru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десерты: от функциональных медовых изделий к церемониальному чак-чаку</a:t>
            </a:r>
            <a:endParaRPr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ru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чайные ритуалы: традиционная подача и необычные сочетания</a:t>
            </a:r>
            <a:endParaRPr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51" name="Google Shape;5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750" y="2284900"/>
            <a:ext cx="4597376" cy="258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1"/>
          <p:cNvSpPr txBox="1">
            <a:spLocks noGrp="1"/>
          </p:cNvSpPr>
          <p:nvPr>
            <p:ph type="title"/>
          </p:nvPr>
        </p:nvSpPr>
        <p:spPr>
          <a:xfrm>
            <a:off x="713250" y="460875"/>
            <a:ext cx="77175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Тематические блоки</a:t>
            </a:r>
            <a:endParaRPr dirty="0">
              <a:latin typeface="+mj-lt"/>
            </a:endParaRPr>
          </a:p>
        </p:txBody>
      </p:sp>
      <p:sp>
        <p:nvSpPr>
          <p:cNvPr id="557" name="Google Shape;557;p21"/>
          <p:cNvSpPr txBox="1">
            <a:spLocks noGrp="1"/>
          </p:cNvSpPr>
          <p:nvPr>
            <p:ph type="body" idx="1"/>
          </p:nvPr>
        </p:nvSpPr>
        <p:spPr>
          <a:xfrm>
            <a:off x="713250" y="1113075"/>
            <a:ext cx="7902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latin typeface="Arial" panose="020B0604020202020204" pitchFamily="34" charset="0"/>
                <a:cs typeface="Arial" panose="020B0604020202020204" pitchFamily="34" charset="0"/>
              </a:rPr>
              <a:t>Блок 4. Религия, традиции и их связь с кухней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В этом блоке мы исследуем, как духовные и культурные традиции сформировали уникальные гастрономические правила татарской кухни, рассмотрев три ключевых аспекта: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религиозные основы питания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халяльные принципы: запрет на свинину, особые правила забоя животных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постные традиции в Рамадан: легкие супы, финики, молочные продукты для ифтара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праздничная кухня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Курбан-байрам: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блюда из барашка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Ураза-байрам: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сладкие угощения (чак-чак, баурсак) и молочные блюда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 startAt="3"/>
            </a:pPr>
            <a:r>
              <a:rPr lang="ru" sz="1300" dirty="0">
                <a:latin typeface="Arial" panose="020B0604020202020204" pitchFamily="34" charset="0"/>
                <a:cs typeface="Arial" panose="020B0604020202020204" pitchFamily="34" charset="0"/>
              </a:rPr>
              <a:t>совместные трапезы как часть семейных и общественных традиций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8" name="Google Shape;558;p21" title="3f62ce06-ecdf-540b-bc12-a5ad7108f934-fotor-bg-remover-20250424155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025" y="2698700"/>
            <a:ext cx="2611775" cy="21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2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Тематические блоки</a:t>
            </a:r>
            <a:endParaRPr dirty="0">
              <a:latin typeface="+mj-lt"/>
            </a:endParaRPr>
          </a:p>
        </p:txBody>
      </p:sp>
      <p:sp>
        <p:nvSpPr>
          <p:cNvPr id="564" name="Google Shape;564;p22"/>
          <p:cNvSpPr txBox="1">
            <a:spLocks noGrp="1"/>
          </p:cNvSpPr>
          <p:nvPr>
            <p:ph type="body" idx="1"/>
          </p:nvPr>
        </p:nvSpPr>
        <p:spPr>
          <a:xfrm>
            <a:off x="713250" y="1066325"/>
            <a:ext cx="7717500" cy="37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latin typeface="+mn-lt"/>
              </a:rPr>
              <a:t>Блок 5. Приготовление татарских блюд</a:t>
            </a:r>
            <a:endParaRPr sz="16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300" dirty="0">
                <a:latin typeface="+mn-lt"/>
              </a:rPr>
              <a:t>В завершающем блоке курса вас ждет погружение в кулинарную практику – от теории к мастерству!</a:t>
            </a:r>
            <a:endParaRPr sz="13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300" dirty="0">
                <a:latin typeface="+mn-lt"/>
              </a:rPr>
              <a:t>Программа онлайн-вебинаров – приготовление блюд на выбор по семейным рецептам (На выбор участников (голосование в чате))</a:t>
            </a:r>
            <a:endParaRPr sz="1300" dirty="0">
              <a:latin typeface="+mn-lt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+mn-lt"/>
              </a:rPr>
              <a:t>Основное блюдо (на выбор):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Эчпочмак с секретами идеального теста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Губадия с поэтапным сбором слоев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Элеш с ароматной начинкой</a:t>
            </a:r>
            <a:endParaRPr sz="1300"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300" dirty="0">
                <a:latin typeface="+mn-lt"/>
              </a:rPr>
              <a:t>Десерт (на выбор):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Классический чак-чак с медовой заливкой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Воздушные баурсаки</a:t>
            </a:r>
            <a:endParaRPr sz="1300"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300" dirty="0">
                <a:latin typeface="+mn-lt"/>
              </a:rPr>
              <a:t>Кош-теле</a:t>
            </a:r>
            <a:endParaRPr sz="1300" dirty="0">
              <a:latin typeface="+mn-lt"/>
            </a:endParaRPr>
          </a:p>
        </p:txBody>
      </p:sp>
      <p:pic>
        <p:nvPicPr>
          <p:cNvPr id="565" name="Google Shape;5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075" y="2499875"/>
            <a:ext cx="3937825" cy="22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 txBox="1">
            <a:spLocks noGrp="1"/>
          </p:cNvSpPr>
          <p:nvPr>
            <p:ph type="title"/>
          </p:nvPr>
        </p:nvSpPr>
        <p:spPr>
          <a:xfrm>
            <a:off x="713250" y="294650"/>
            <a:ext cx="77175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Пример задания</a:t>
            </a:r>
            <a:endParaRPr dirty="0">
              <a:latin typeface="+mj-lt"/>
            </a:endParaRPr>
          </a:p>
        </p:txBody>
      </p:sp>
      <p:sp>
        <p:nvSpPr>
          <p:cNvPr id="571" name="Google Shape;571;p23"/>
          <p:cNvSpPr txBox="1">
            <a:spLocks noGrp="1"/>
          </p:cNvSpPr>
          <p:nvPr>
            <p:ph type="body" idx="1"/>
          </p:nvPr>
        </p:nvSpPr>
        <p:spPr>
          <a:xfrm>
            <a:off x="497600" y="826325"/>
            <a:ext cx="5344200" cy="39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dirty="0">
                <a:latin typeface="+mn-lt"/>
              </a:rPr>
              <a:t>Блок 2. История и влияние географического положения на кухню</a:t>
            </a:r>
            <a:endParaRPr sz="12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 b="1" dirty="0">
                <a:latin typeface="+mn-lt"/>
              </a:rPr>
              <a:t>Задание:</a:t>
            </a:r>
            <a:r>
              <a:rPr lang="ru" sz="1100" dirty="0">
                <a:latin typeface="+mn-lt"/>
              </a:rPr>
              <a:t> "Кочевые и оседлые традиции в татарской кухне: </a:t>
            </a:r>
            <a:endParaRPr sz="11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 dirty="0">
                <a:latin typeface="+mn-lt"/>
              </a:rPr>
              <a:t>сравнительный анализ"</a:t>
            </a:r>
            <a:endParaRPr sz="11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 dirty="0">
                <a:latin typeface="+mn-lt"/>
              </a:rPr>
              <a:t>Выберите по одному блюду из каждой категории: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Кочевые традиции (степные татары): казылык, катлама, кумыс, талкан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Оседлые традиции (лесные/речные татары): бэлиш с рыбой, кыстыбый с грибами, чак-чак, эчпочмак с уткой</a:t>
            </a:r>
            <a:endParaRPr sz="11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 dirty="0">
                <a:latin typeface="+mn-lt"/>
              </a:rPr>
              <a:t>Проведите сравнительный анализ по следующим критериям: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Основные ингредиенты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Способ приготовления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Срок хранения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Повод для употребления</a:t>
            </a:r>
            <a:endParaRPr sz="1100" dirty="0">
              <a:latin typeface="+mn-l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 dirty="0">
                <a:latin typeface="+mn-lt"/>
              </a:rPr>
              <a:t>Влияние географических условий</a:t>
            </a:r>
            <a:endParaRPr sz="11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100" dirty="0">
                <a:latin typeface="+mn-lt"/>
              </a:rPr>
              <a:t>Выявите общие черты (не менее 2), объединяющие оба типа блюд и ключевые различия (не менее 2)</a:t>
            </a:r>
            <a:endParaRPr sz="1200" dirty="0">
              <a:latin typeface="+mn-lt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5741625" y="883650"/>
            <a:ext cx="3000000" cy="179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Критерии оценивания</a:t>
            </a:r>
            <a:r>
              <a:rPr lang="ru" sz="12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 (макс. 10 баллов):</a:t>
            </a:r>
            <a:endParaRPr sz="12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Полнота сравнения (0-5)</a:t>
            </a:r>
            <a:endParaRPr sz="12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Выявление общих черт (0-2)</a:t>
            </a:r>
            <a:endParaRPr sz="12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Использование материалов курса (0-1)</a:t>
            </a:r>
            <a:endParaRPr sz="12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Char char="●"/>
            </a:pPr>
            <a:r>
              <a:rPr lang="ru" sz="1200" dirty="0">
                <a:solidFill>
                  <a:schemeClr val="dk1"/>
                </a:solidFill>
                <a:latin typeface="+mn-lt"/>
                <a:ea typeface="Source Sans 3"/>
                <a:cs typeface="Source Sans 3"/>
                <a:sym typeface="Source Sans 3"/>
              </a:rPr>
              <a:t>Анализ различий (0-2)</a:t>
            </a:r>
            <a:endParaRPr sz="1200" dirty="0">
              <a:solidFill>
                <a:schemeClr val="dk1"/>
              </a:solidFill>
              <a:latin typeface="+mn-lt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73" name="Google Shape;5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4725" y="3053675"/>
            <a:ext cx="1416275" cy="14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 txBox="1">
            <a:spLocks noGrp="1"/>
          </p:cNvSpPr>
          <p:nvPr>
            <p:ph type="title"/>
          </p:nvPr>
        </p:nvSpPr>
        <p:spPr>
          <a:xfrm>
            <a:off x="713225" y="539400"/>
            <a:ext cx="7717500" cy="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j-lt"/>
              </a:rPr>
              <a:t>Материалы курса</a:t>
            </a:r>
            <a:endParaRPr dirty="0">
              <a:latin typeface="+mj-lt"/>
            </a:endParaRPr>
          </a:p>
        </p:txBody>
      </p:sp>
      <p:sp>
        <p:nvSpPr>
          <p:cNvPr id="579" name="Google Shape;579;p24"/>
          <p:cNvSpPr txBox="1">
            <a:spLocks noGrp="1"/>
          </p:cNvSpPr>
          <p:nvPr>
            <p:ph type="body" idx="1"/>
          </p:nvPr>
        </p:nvSpPr>
        <p:spPr>
          <a:xfrm>
            <a:off x="713250" y="1287000"/>
            <a:ext cx="4706100" cy="31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глоссарий – список татарских кулинарных терминов с пояснениями.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лекционный блок (12 видеороликов)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визуальные материалы:</a:t>
            </a:r>
            <a:endParaRPr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dirty="0">
                <a:latin typeface="+mn-lt"/>
              </a:rPr>
              <a:t>фотогалерея традиционных блюд</a:t>
            </a:r>
            <a:endParaRPr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dirty="0">
                <a:latin typeface="+mn-lt"/>
              </a:rPr>
              <a:t>карты расселения татарских групп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сравнительные таблицы и диаграммы для изучения различных аспектов татарской кухни (например, похожие блюда других народов)</a:t>
            </a:r>
            <a:endParaRPr dirty="0">
              <a:latin typeface="+mn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dirty="0">
                <a:latin typeface="+mn-lt"/>
              </a:rPr>
              <a:t>дополнительная литература:</a:t>
            </a:r>
            <a:endParaRPr dirty="0">
              <a:latin typeface="+mn-lt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dirty="0">
                <a:latin typeface="+mn-lt"/>
              </a:rPr>
              <a:t>Ахметзянов Ю.А. "Татарская кухня" (1985)</a:t>
            </a:r>
            <a:endParaRPr dirty="0">
              <a:latin typeface="+mn-lt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5355043" y="1135364"/>
            <a:ext cx="3011400" cy="351073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 dirty="0">
                <a:latin typeface="+mn-lt"/>
                <a:ea typeface="Source Sans 3"/>
                <a:cs typeface="Source Sans 3"/>
                <a:sym typeface="Source Sans 3"/>
              </a:rPr>
              <a:t>Глоссарий</a:t>
            </a:r>
            <a:endParaRPr sz="10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dirty="0">
                <a:latin typeface="+mn-lt"/>
                <a:ea typeface="Source Sans 3"/>
                <a:cs typeface="Source Sans 3"/>
                <a:sym typeface="Source Sans 3"/>
              </a:rPr>
              <a:t>Эчпочмак</a:t>
            </a:r>
            <a:endParaRPr sz="9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latin typeface="+mn-lt"/>
                <a:ea typeface="Source Sans 3"/>
                <a:cs typeface="Source Sans 3"/>
                <a:sym typeface="Source Sans 3"/>
              </a:rPr>
              <a:t>Треугольный пирожок с мясной начинкой (чаще из баранины/говядины), характерный символ татарской кухни. Дословно: "треугольник" (эч — "три", почмак — "угол").</a:t>
            </a: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dirty="0">
                <a:latin typeface="+mn-lt"/>
                <a:ea typeface="Source Sans 3"/>
                <a:cs typeface="Source Sans 3"/>
                <a:sym typeface="Source Sans 3"/>
              </a:rPr>
              <a:t>Бэлеш</a:t>
            </a:r>
            <a:endParaRPr sz="9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latin typeface="+mn-lt"/>
                <a:ea typeface="Source Sans 3"/>
                <a:cs typeface="Source Sans 3"/>
                <a:sym typeface="Source Sans 3"/>
              </a:rPr>
              <a:t>Большой закрытый пирог с многослойной начинкой (мясо, картофель, лук). Традиционно готовился в печи для праздников.</a:t>
            </a: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dirty="0">
                <a:latin typeface="+mn-lt"/>
                <a:ea typeface="Source Sans 3"/>
                <a:cs typeface="Source Sans 3"/>
                <a:sym typeface="Source Sans 3"/>
              </a:rPr>
              <a:t>Чак-чак</a:t>
            </a:r>
            <a:endParaRPr sz="9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latin typeface="+mn-lt"/>
                <a:ea typeface="Source Sans 3"/>
                <a:cs typeface="Source Sans 3"/>
                <a:sym typeface="Source Sans 3"/>
              </a:rPr>
              <a:t>Десерт из обжаренных в меду шариков теста. Подаётся горкой на свадьбы и торжества.</a:t>
            </a: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dirty="0">
                <a:latin typeface="+mn-lt"/>
                <a:ea typeface="Source Sans 3"/>
                <a:cs typeface="Source Sans 3"/>
                <a:sym typeface="Source Sans 3"/>
              </a:rPr>
              <a:t>Казылык</a:t>
            </a:r>
            <a:endParaRPr sz="9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latin typeface="+mn-lt"/>
                <a:ea typeface="Source Sans 3"/>
                <a:cs typeface="Source Sans 3"/>
                <a:sym typeface="Source Sans 3"/>
              </a:rPr>
              <a:t>Вяленая конская колбаса — наследие кочевых традиций. Готовится из реберного мяса с пряностями.</a:t>
            </a: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dirty="0">
                <a:latin typeface="+mn-lt"/>
                <a:ea typeface="Source Sans 3"/>
                <a:cs typeface="Source Sans 3"/>
                <a:sym typeface="Source Sans 3"/>
              </a:rPr>
              <a:t>Губадия</a:t>
            </a:r>
            <a:endParaRPr sz="900" b="1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latin typeface="+mn-lt"/>
                <a:ea typeface="Source Sans 3"/>
                <a:cs typeface="Source Sans 3"/>
                <a:sym typeface="Source Sans 3"/>
              </a:rPr>
              <a:t>Многослойный круглый пирог с творогом, рисом, изюмом и яйцами. Обязателен на свадебном столе.</a:t>
            </a: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nstruction Era and the Gilded Age - History - 11th Grade Infographics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1072</Words>
  <Application>Microsoft Office PowerPoint</Application>
  <PresentationFormat>Экран (16:9)</PresentationFormat>
  <Paragraphs>158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Source Sans 3</vt:lpstr>
      <vt:lpstr>Nunito Light</vt:lpstr>
      <vt:lpstr>Arial</vt:lpstr>
      <vt:lpstr>Times New Roman</vt:lpstr>
      <vt:lpstr>Libre Baskerville</vt:lpstr>
      <vt:lpstr>Source Sans 3 Light</vt:lpstr>
      <vt:lpstr>Reconstruction Era and the Gilded Age - History - 11th Grade Infographics by Slidesgo</vt:lpstr>
      <vt:lpstr>Со вкусом традиций: путешествие по татарской культуре от кочевников до современности</vt:lpstr>
      <vt:lpstr>Презентация PowerPoint</vt:lpstr>
      <vt:lpstr>Цели и образовательные результаты курса</vt:lpstr>
      <vt:lpstr>Связь элементов курса</vt:lpstr>
      <vt:lpstr>Связь элементов курса</vt:lpstr>
      <vt:lpstr>Тематические блоки </vt:lpstr>
      <vt:lpstr>Тематические блоки</vt:lpstr>
      <vt:lpstr>Тематические блоки</vt:lpstr>
      <vt:lpstr>Тематические блоки</vt:lpstr>
      <vt:lpstr>Тематические блоки</vt:lpstr>
      <vt:lpstr>Пример задания</vt:lpstr>
      <vt:lpstr>Материалы курса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user</cp:lastModifiedBy>
  <cp:revision>8</cp:revision>
  <dcterms:modified xsi:type="dcterms:W3CDTF">2025-05-01T19:09:04Z</dcterms:modified>
</cp:coreProperties>
</file>